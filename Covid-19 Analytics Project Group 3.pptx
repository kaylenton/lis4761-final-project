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7" r:id="rId1"/>
    <p:sldMasterId id="2147483688" r:id="rId2"/>
  </p:sldMasterIdLst>
  <p:notesMasterIdLst>
    <p:notesMasterId r:id="rId3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9144000" cy="5143500" type="screen16x9"/>
  <p:notesSz cx="6858000" cy="9144000"/>
  <p:embeddedFontLst>
    <p:embeddedFont>
      <p:font typeface="Figtree Black" panose="020B0604020202020204" charset="0"/>
      <p:bold r:id="rId37"/>
      <p:boldItalic r:id="rId38"/>
    </p:embeddedFont>
    <p:embeddedFont>
      <p:font typeface="Hanken Grotesk" panose="020B0604020202020204" charset="0"/>
      <p:regular r:id="rId39"/>
      <p:bold r:id="rId40"/>
      <p:italic r:id="rId41"/>
      <p:boldItalic r:id="rId42"/>
    </p:embeddedFont>
    <p:embeddedFont>
      <p:font typeface="Lato" panose="020F0502020204030203" pitchFamily="34" charset="0"/>
      <p:regular r:id="rId43"/>
      <p:bold r:id="rId44"/>
      <p:italic r:id="rId45"/>
      <p:boldItalic r:id="rId46"/>
    </p:embeddedFont>
    <p:embeddedFont>
      <p:font typeface="Nunito Light" pitchFamily="2" charset="0"/>
      <p:regular r:id="rId47"/>
    </p:embeddedFont>
    <p:embeddedFont>
      <p:font typeface="Roboto" panose="020000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54" y="10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font" Target="fonts/font1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font" Target="fonts/font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ac820a5dc8_3_39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ac820a5dc8_3_39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ac820a5dc8_3_39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ac820a5dc8_3_39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c820a5dc8_3_40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ac820a5dc8_3_4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ae095bc132_7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ae095bc132_7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ae095bc132_7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ae095bc132_7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adea832358_0_13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adea832358_0_1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adea832358_0_1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adea832358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ac820a5dc8_3_40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ac820a5dc8_3_40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ae095bc132_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ae095bc132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ae095bc132_6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ae095bc132_6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916804c467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916804c46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916804c467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916804c467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916804c467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916804c467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ae095bc132_7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ae095bc132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ac820a5dc8_3_40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3ac820a5dc8_3_4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adea832358_0_1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3adea832358_0_1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ac820a5dc8_3_40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3ac820a5dc8_3_40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ac820a5dc8_3_40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3ac820a5dc8_3_40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ac820a5dc8_3_4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3ac820a5dc8_3_4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3adbe48f3ef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3adbe48f3e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adbe48f3ef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3adbe48f3ef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916804c46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916804c46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3916804c467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3916804c467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dbe48f3ef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3adbe48f3ef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adbe48f3ef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adbe48f3ef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adbe48f3ef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adbe48f3e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ac820a5dc8_3_40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3ac820a5dc8_3_40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3abaaba98eb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3abaaba98e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3ae58b5e428_1_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3ae58b5e428_1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3ae58b5e428_1_3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3ae58b5e428_1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ac820a5dc8_3_40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ac820a5dc8_3_40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ae095bc132_7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3ae095bc132_7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ae2af1433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3ae2af1433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14"/>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 name="Google Shape;55;p14"/>
          <p:cNvGrpSpPr/>
          <p:nvPr/>
        </p:nvGrpSpPr>
        <p:grpSpPr>
          <a:xfrm>
            <a:off x="727425" y="-49275"/>
            <a:ext cx="7703400" cy="5243325"/>
            <a:chOff x="727425" y="-49275"/>
            <a:chExt cx="7703400" cy="5243325"/>
          </a:xfrm>
        </p:grpSpPr>
        <p:sp>
          <p:nvSpPr>
            <p:cNvPr id="56" name="Google Shape;56;p14"/>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 name="Google Shape;57;p14"/>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58" name="Google Shape;58;p14"/>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59" name="Google Shape;59;p14"/>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0" name="Google Shape;60;p14"/>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1"/>
        <p:cNvGrpSpPr/>
        <p:nvPr/>
      </p:nvGrpSpPr>
      <p:grpSpPr>
        <a:xfrm>
          <a:off x="0" y="0"/>
          <a:ext cx="0" cy="0"/>
          <a:chOff x="0" y="0"/>
          <a:chExt cx="0" cy="0"/>
        </a:xfrm>
      </p:grpSpPr>
      <p:sp>
        <p:nvSpPr>
          <p:cNvPr id="62" name="Google Shape;62;p15"/>
          <p:cNvSpPr/>
          <p:nvPr/>
        </p:nvSpPr>
        <p:spPr>
          <a:xfrm>
            <a:off x="6433725" y="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15"/>
          <p:cNvGrpSpPr/>
          <p:nvPr/>
        </p:nvGrpSpPr>
        <p:grpSpPr>
          <a:xfrm>
            <a:off x="713225" y="-62550"/>
            <a:ext cx="7717800" cy="5210100"/>
            <a:chOff x="713225" y="-62550"/>
            <a:chExt cx="7717800" cy="5210100"/>
          </a:xfrm>
        </p:grpSpPr>
        <p:sp>
          <p:nvSpPr>
            <p:cNvPr id="64" name="Google Shape;64;p15"/>
            <p:cNvSpPr/>
            <p:nvPr/>
          </p:nvSpPr>
          <p:spPr>
            <a:xfrm>
              <a:off x="713225" y="533550"/>
              <a:ext cx="77178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 name="Google Shape;65;p15"/>
            <p:cNvCxnSpPr/>
            <p:nvPr/>
          </p:nvCxnSpPr>
          <p:spPr>
            <a:xfrm rot="10800000">
              <a:off x="713225" y="-62550"/>
              <a:ext cx="0" cy="59610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15"/>
            <p:cNvCxnSpPr/>
            <p:nvPr/>
          </p:nvCxnSpPr>
          <p:spPr>
            <a:xfrm>
              <a:off x="8430775" y="4608450"/>
              <a:ext cx="0" cy="539100"/>
            </a:xfrm>
            <a:prstGeom prst="straightConnector1">
              <a:avLst/>
            </a:prstGeom>
            <a:noFill/>
            <a:ln w="19050" cap="flat" cmpd="sng">
              <a:solidFill>
                <a:schemeClr val="dk1"/>
              </a:solidFill>
              <a:prstDash val="solid"/>
              <a:round/>
              <a:headEnd type="none" w="med" len="med"/>
              <a:tailEnd type="none" w="med" len="med"/>
            </a:ln>
          </p:spPr>
        </p:cxnSp>
      </p:grpSp>
      <p:sp>
        <p:nvSpPr>
          <p:cNvPr id="67" name="Google Shape;67;p15"/>
          <p:cNvSpPr txBox="1">
            <a:spLocks noGrp="1"/>
          </p:cNvSpPr>
          <p:nvPr>
            <p:ph type="title"/>
          </p:nvPr>
        </p:nvSpPr>
        <p:spPr>
          <a:xfrm>
            <a:off x="1216475" y="1977150"/>
            <a:ext cx="50676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8" name="Google Shape;68;p15"/>
          <p:cNvSpPr txBox="1">
            <a:spLocks noGrp="1"/>
          </p:cNvSpPr>
          <p:nvPr>
            <p:ph type="title" idx="2" hasCustomPrompt="1"/>
          </p:nvPr>
        </p:nvSpPr>
        <p:spPr>
          <a:xfrm>
            <a:off x="720000" y="533550"/>
            <a:ext cx="824400" cy="7050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SzPts val="6000"/>
              <a:buNone/>
              <a:defRPr sz="3300">
                <a:solidFill>
                  <a:schemeClr val="lt1"/>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9" name="Google Shape;69;p15"/>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latin typeface="Hanken Grotesk"/>
                <a:ea typeface="Hanken Grotesk"/>
                <a:cs typeface="Hanken Grotesk"/>
                <a:sym typeface="Hanken Grotesk"/>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0"/>
        <p:cNvGrpSpPr/>
        <p:nvPr/>
      </p:nvGrpSpPr>
      <p:grpSpPr>
        <a:xfrm>
          <a:off x="0" y="0"/>
          <a:ext cx="0" cy="0"/>
          <a:chOff x="0" y="0"/>
          <a:chExt cx="0" cy="0"/>
        </a:xfrm>
      </p:grpSpPr>
      <p:sp>
        <p:nvSpPr>
          <p:cNvPr id="71" name="Google Shape;71;p16"/>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16"/>
          <p:cNvGrpSpPr/>
          <p:nvPr/>
        </p:nvGrpSpPr>
        <p:grpSpPr>
          <a:xfrm>
            <a:off x="-19050" y="232800"/>
            <a:ext cx="8930250" cy="5027400"/>
            <a:chOff x="-19050" y="232800"/>
            <a:chExt cx="8930250" cy="5027400"/>
          </a:xfrm>
        </p:grpSpPr>
        <p:sp>
          <p:nvSpPr>
            <p:cNvPr id="73" name="Google Shape;73;p1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4" name="Google Shape;74;p16"/>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75" name="Google Shape;75;p16"/>
            <p:cNvCxnSpPr/>
            <p:nvPr/>
          </p:nvCxnSpPr>
          <p:spPr>
            <a:xfrm>
              <a:off x="8911200" y="4917300"/>
              <a:ext cx="0" cy="342900"/>
            </a:xfrm>
            <a:prstGeom prst="straightConnector1">
              <a:avLst/>
            </a:prstGeom>
            <a:noFill/>
            <a:ln w="19050" cap="flat" cmpd="sng">
              <a:solidFill>
                <a:schemeClr val="dk1"/>
              </a:solidFill>
              <a:prstDash val="solid"/>
              <a:round/>
              <a:headEnd type="none" w="med" len="med"/>
              <a:tailEnd type="none" w="med" len="med"/>
            </a:ln>
          </p:spPr>
        </p:cxnSp>
      </p:grpSp>
      <p:sp>
        <p:nvSpPr>
          <p:cNvPr id="76" name="Google Shape;7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7" name="Google Shape;77;p16"/>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a:spcBef>
                <a:spcPts val="0"/>
              </a:spcBef>
              <a:spcAft>
                <a:spcPts val="0"/>
              </a:spcAft>
              <a:buSzPts val="800"/>
              <a:buChar char="●"/>
              <a:defRPr>
                <a:latin typeface="Hanken Grotesk"/>
                <a:ea typeface="Hanken Grotesk"/>
                <a:cs typeface="Hanken Grotesk"/>
                <a:sym typeface="Hanken Grotesk"/>
              </a:defRPr>
            </a:lvl1pPr>
            <a:lvl2pPr marL="914400" lvl="1" indent="-304800">
              <a:spcBef>
                <a:spcPts val="0"/>
              </a:spcBef>
              <a:spcAft>
                <a:spcPts val="0"/>
              </a:spcAft>
              <a:buSzPts val="1200"/>
              <a:buChar char="○"/>
              <a:defRPr>
                <a:latin typeface="Hanken Grotesk"/>
                <a:ea typeface="Hanken Grotesk"/>
                <a:cs typeface="Hanken Grotesk"/>
                <a:sym typeface="Hanken Grotesk"/>
              </a:defRPr>
            </a:lvl2pPr>
            <a:lvl3pPr marL="1371600" lvl="2" indent="-304800">
              <a:lnSpc>
                <a:spcPct val="115000"/>
              </a:lnSpc>
              <a:spcBef>
                <a:spcPts val="0"/>
              </a:spcBef>
              <a:spcAft>
                <a:spcPts val="0"/>
              </a:spcAft>
              <a:buSzPts val="1200"/>
              <a:buChar char="■"/>
              <a:defRPr/>
            </a:lvl3pPr>
            <a:lvl4pPr marL="1828800" lvl="3" indent="-304800">
              <a:lnSpc>
                <a:spcPct val="115000"/>
              </a:lnSpc>
              <a:spcBef>
                <a:spcPts val="0"/>
              </a:spcBef>
              <a:spcAft>
                <a:spcPts val="0"/>
              </a:spcAft>
              <a:buSzPts val="1200"/>
              <a:buChar char="●"/>
              <a:defRPr/>
            </a:lvl4pPr>
            <a:lvl5pPr marL="2286000" lvl="4" indent="-304800">
              <a:lnSpc>
                <a:spcPct val="115000"/>
              </a:lnSpc>
              <a:spcBef>
                <a:spcPts val="0"/>
              </a:spcBef>
              <a:spcAft>
                <a:spcPts val="0"/>
              </a:spcAft>
              <a:buSzPts val="1200"/>
              <a:buChar char="○"/>
              <a:defRPr/>
            </a:lvl5pPr>
            <a:lvl6pPr marL="2743200" lvl="5" indent="-304800">
              <a:lnSpc>
                <a:spcPct val="115000"/>
              </a:lnSpc>
              <a:spcBef>
                <a:spcPts val="0"/>
              </a:spcBef>
              <a:spcAft>
                <a:spcPts val="0"/>
              </a:spcAft>
              <a:buSzPts val="1200"/>
              <a:buChar char="■"/>
              <a:defRPr/>
            </a:lvl6pPr>
            <a:lvl7pPr marL="3200400" lvl="6" indent="-304800">
              <a:lnSpc>
                <a:spcPct val="115000"/>
              </a:lnSpc>
              <a:spcBef>
                <a:spcPts val="0"/>
              </a:spcBef>
              <a:spcAft>
                <a:spcPts val="0"/>
              </a:spcAft>
              <a:buSzPts val="1200"/>
              <a:buChar char="●"/>
              <a:defRPr/>
            </a:lvl7pPr>
            <a:lvl8pPr marL="3657600" lvl="7" indent="-304800">
              <a:lnSpc>
                <a:spcPct val="115000"/>
              </a:lnSpc>
              <a:spcBef>
                <a:spcPts val="0"/>
              </a:spcBef>
              <a:spcAft>
                <a:spcPts val="0"/>
              </a:spcAft>
              <a:buSzPts val="1200"/>
              <a:buChar char="○"/>
              <a:defRPr/>
            </a:lvl8pPr>
            <a:lvl9pPr marL="4114800" lvl="8" indent="-304800">
              <a:lnSpc>
                <a:spcPct val="115000"/>
              </a:lnSpc>
              <a:spcBef>
                <a:spcPts val="0"/>
              </a:spcBef>
              <a:spcAft>
                <a:spcPts val="0"/>
              </a:spcAft>
              <a:buSzPts val="12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8"/>
        <p:cNvGrpSpPr/>
        <p:nvPr/>
      </p:nvGrpSpPr>
      <p:grpSpPr>
        <a:xfrm>
          <a:off x="0" y="0"/>
          <a:ext cx="0" cy="0"/>
          <a:chOff x="0" y="0"/>
          <a:chExt cx="0" cy="0"/>
        </a:xfrm>
      </p:grpSpPr>
      <p:sp>
        <p:nvSpPr>
          <p:cNvPr id="79" name="Google Shape;79;p17"/>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17"/>
          <p:cNvGrpSpPr/>
          <p:nvPr/>
        </p:nvGrpSpPr>
        <p:grpSpPr>
          <a:xfrm>
            <a:off x="-77100" y="232800"/>
            <a:ext cx="8988300" cy="4964300"/>
            <a:chOff x="-77100" y="232800"/>
            <a:chExt cx="8988300" cy="4964300"/>
          </a:xfrm>
        </p:grpSpPr>
        <p:sp>
          <p:nvSpPr>
            <p:cNvPr id="81" name="Google Shape;81;p17"/>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17"/>
            <p:cNvCxnSpPr/>
            <p:nvPr/>
          </p:nvCxnSpPr>
          <p:spPr>
            <a:xfrm rot="10800000">
              <a:off x="-771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83" name="Google Shape;83;p17"/>
            <p:cNvCxnSpPr/>
            <p:nvPr/>
          </p:nvCxnSpPr>
          <p:spPr>
            <a:xfrm rot="10800000">
              <a:off x="8911200" y="4890500"/>
              <a:ext cx="0" cy="306600"/>
            </a:xfrm>
            <a:prstGeom prst="straightConnector1">
              <a:avLst/>
            </a:prstGeom>
            <a:noFill/>
            <a:ln w="19050" cap="flat" cmpd="sng">
              <a:solidFill>
                <a:schemeClr val="dk1"/>
              </a:solidFill>
              <a:prstDash val="solid"/>
              <a:round/>
              <a:headEnd type="none" w="med" len="med"/>
              <a:tailEnd type="none" w="med" len="med"/>
            </a:ln>
          </p:spPr>
        </p:cxnSp>
      </p:grpSp>
      <p:sp>
        <p:nvSpPr>
          <p:cNvPr id="84" name="Google Shape;84;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5" name="Google Shape;85;p17"/>
          <p:cNvSpPr txBox="1">
            <a:spLocks noGrp="1"/>
          </p:cNvSpPr>
          <p:nvPr>
            <p:ph type="subTitle" idx="1"/>
          </p:nvPr>
        </p:nvSpPr>
        <p:spPr>
          <a:xfrm>
            <a:off x="4651268" y="1736553"/>
            <a:ext cx="3772800" cy="2736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a:lnSpc>
                <a:spcPct val="115000"/>
              </a:lnSpc>
              <a:spcBef>
                <a:spcPts val="0"/>
              </a:spcBef>
              <a:spcAft>
                <a:spcPts val="0"/>
              </a:spcAft>
              <a:buSzPts val="2800"/>
              <a:buChar char="○"/>
              <a:defRPr sz="2800"/>
            </a:lvl2pPr>
            <a:lvl3pPr lvl="2" algn="ctr">
              <a:lnSpc>
                <a:spcPct val="115000"/>
              </a:lnSpc>
              <a:spcBef>
                <a:spcPts val="0"/>
              </a:spcBef>
              <a:spcAft>
                <a:spcPts val="0"/>
              </a:spcAft>
              <a:buSzPts val="2800"/>
              <a:buChar char="■"/>
              <a:defRPr sz="2800"/>
            </a:lvl3pPr>
            <a:lvl4pPr lvl="3" algn="ctr">
              <a:lnSpc>
                <a:spcPct val="115000"/>
              </a:lnSpc>
              <a:spcBef>
                <a:spcPts val="0"/>
              </a:spcBef>
              <a:spcAft>
                <a:spcPts val="0"/>
              </a:spcAft>
              <a:buSzPts val="2800"/>
              <a:buChar char="●"/>
              <a:defRPr sz="2800"/>
            </a:lvl4pPr>
            <a:lvl5pPr lvl="4" algn="ctr">
              <a:lnSpc>
                <a:spcPct val="115000"/>
              </a:lnSpc>
              <a:spcBef>
                <a:spcPts val="0"/>
              </a:spcBef>
              <a:spcAft>
                <a:spcPts val="0"/>
              </a:spcAft>
              <a:buSzPts val="2800"/>
              <a:buChar char="○"/>
              <a:defRPr sz="2800"/>
            </a:lvl5pPr>
            <a:lvl6pPr lvl="5" algn="ctr">
              <a:lnSpc>
                <a:spcPct val="115000"/>
              </a:lnSpc>
              <a:spcBef>
                <a:spcPts val="0"/>
              </a:spcBef>
              <a:spcAft>
                <a:spcPts val="0"/>
              </a:spcAft>
              <a:buSzPts val="2800"/>
              <a:buChar char="■"/>
              <a:defRPr sz="2800"/>
            </a:lvl6pPr>
            <a:lvl7pPr lvl="6" algn="ctr">
              <a:lnSpc>
                <a:spcPct val="115000"/>
              </a:lnSpc>
              <a:spcBef>
                <a:spcPts val="0"/>
              </a:spcBef>
              <a:spcAft>
                <a:spcPts val="0"/>
              </a:spcAft>
              <a:buSzPts val="2800"/>
              <a:buChar char="●"/>
              <a:defRPr sz="2800"/>
            </a:lvl7pPr>
            <a:lvl8pPr lvl="7" algn="ctr">
              <a:lnSpc>
                <a:spcPct val="115000"/>
              </a:lnSpc>
              <a:spcBef>
                <a:spcPts val="0"/>
              </a:spcBef>
              <a:spcAft>
                <a:spcPts val="0"/>
              </a:spcAft>
              <a:buSzPts val="2800"/>
              <a:buChar char="○"/>
              <a:defRPr sz="2800"/>
            </a:lvl8pPr>
            <a:lvl9pPr lvl="8" algn="ctr">
              <a:lnSpc>
                <a:spcPct val="115000"/>
              </a:lnSpc>
              <a:spcBef>
                <a:spcPts val="0"/>
              </a:spcBef>
              <a:spcAft>
                <a:spcPts val="0"/>
              </a:spcAft>
              <a:buSzPts val="2800"/>
              <a:buChar char="■"/>
              <a:defRPr sz="2800"/>
            </a:lvl9pPr>
          </a:lstStyle>
          <a:p>
            <a:endParaRPr/>
          </a:p>
        </p:txBody>
      </p:sp>
      <p:sp>
        <p:nvSpPr>
          <p:cNvPr id="86" name="Google Shape;86;p17"/>
          <p:cNvSpPr txBox="1">
            <a:spLocks noGrp="1"/>
          </p:cNvSpPr>
          <p:nvPr>
            <p:ph type="subTitle" idx="2"/>
          </p:nvPr>
        </p:nvSpPr>
        <p:spPr>
          <a:xfrm>
            <a:off x="720000" y="1736553"/>
            <a:ext cx="3772800" cy="2736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a:lnSpc>
                <a:spcPct val="115000"/>
              </a:lnSpc>
              <a:spcBef>
                <a:spcPts val="0"/>
              </a:spcBef>
              <a:spcAft>
                <a:spcPts val="0"/>
              </a:spcAft>
              <a:buSzPts val="1400"/>
              <a:buChar char="○"/>
              <a:defRPr sz="2800"/>
            </a:lvl2pPr>
            <a:lvl3pPr lvl="2" algn="ctr">
              <a:lnSpc>
                <a:spcPct val="115000"/>
              </a:lnSpc>
              <a:spcBef>
                <a:spcPts val="0"/>
              </a:spcBef>
              <a:spcAft>
                <a:spcPts val="0"/>
              </a:spcAft>
              <a:buSzPts val="1400"/>
              <a:buChar char="■"/>
              <a:defRPr sz="2800"/>
            </a:lvl3pPr>
            <a:lvl4pPr lvl="3" algn="ctr">
              <a:lnSpc>
                <a:spcPct val="115000"/>
              </a:lnSpc>
              <a:spcBef>
                <a:spcPts val="0"/>
              </a:spcBef>
              <a:spcAft>
                <a:spcPts val="0"/>
              </a:spcAft>
              <a:buSzPts val="1400"/>
              <a:buChar char="●"/>
              <a:defRPr sz="2800"/>
            </a:lvl4pPr>
            <a:lvl5pPr lvl="4" algn="ctr">
              <a:lnSpc>
                <a:spcPct val="115000"/>
              </a:lnSpc>
              <a:spcBef>
                <a:spcPts val="0"/>
              </a:spcBef>
              <a:spcAft>
                <a:spcPts val="0"/>
              </a:spcAft>
              <a:buSzPts val="1400"/>
              <a:buChar char="○"/>
              <a:defRPr sz="2800"/>
            </a:lvl5pPr>
            <a:lvl6pPr lvl="5" algn="ctr">
              <a:lnSpc>
                <a:spcPct val="115000"/>
              </a:lnSpc>
              <a:spcBef>
                <a:spcPts val="0"/>
              </a:spcBef>
              <a:spcAft>
                <a:spcPts val="0"/>
              </a:spcAft>
              <a:buSzPts val="1400"/>
              <a:buChar char="■"/>
              <a:defRPr sz="2800"/>
            </a:lvl6pPr>
            <a:lvl7pPr lvl="6" algn="ctr">
              <a:lnSpc>
                <a:spcPct val="115000"/>
              </a:lnSpc>
              <a:spcBef>
                <a:spcPts val="0"/>
              </a:spcBef>
              <a:spcAft>
                <a:spcPts val="0"/>
              </a:spcAft>
              <a:buSzPts val="1400"/>
              <a:buChar char="●"/>
              <a:defRPr sz="2800"/>
            </a:lvl7pPr>
            <a:lvl8pPr lvl="7" algn="ctr">
              <a:lnSpc>
                <a:spcPct val="115000"/>
              </a:lnSpc>
              <a:spcBef>
                <a:spcPts val="0"/>
              </a:spcBef>
              <a:spcAft>
                <a:spcPts val="0"/>
              </a:spcAft>
              <a:buSzPts val="1400"/>
              <a:buChar char="○"/>
              <a:defRPr sz="2800"/>
            </a:lvl8pPr>
            <a:lvl9pPr lvl="8" algn="ctr">
              <a:lnSpc>
                <a:spcPct val="115000"/>
              </a:lnSpc>
              <a:spcBef>
                <a:spcPts val="0"/>
              </a:spcBef>
              <a:spcAft>
                <a:spcPts val="0"/>
              </a:spcAft>
              <a:buSzPts val="1400"/>
              <a:buChar char="■"/>
              <a:defRPr sz="2800"/>
            </a:lvl9pPr>
          </a:lstStyle>
          <a:p>
            <a:endParaRPr/>
          </a:p>
        </p:txBody>
      </p:sp>
      <p:sp>
        <p:nvSpPr>
          <p:cNvPr id="87" name="Google Shape;87;p17"/>
          <p:cNvSpPr txBox="1">
            <a:spLocks noGrp="1"/>
          </p:cNvSpPr>
          <p:nvPr>
            <p:ph type="subTitle" idx="3"/>
          </p:nvPr>
        </p:nvSpPr>
        <p:spPr>
          <a:xfrm>
            <a:off x="720000" y="1451250"/>
            <a:ext cx="3772800" cy="361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
        <p:nvSpPr>
          <p:cNvPr id="88" name="Google Shape;88;p17"/>
          <p:cNvSpPr txBox="1">
            <a:spLocks noGrp="1"/>
          </p:cNvSpPr>
          <p:nvPr>
            <p:ph type="subTitle" idx="4"/>
          </p:nvPr>
        </p:nvSpPr>
        <p:spPr>
          <a:xfrm>
            <a:off x="4651268" y="1451250"/>
            <a:ext cx="3772800" cy="361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9"/>
        <p:cNvGrpSpPr/>
        <p:nvPr/>
      </p:nvGrpSpPr>
      <p:grpSpPr>
        <a:xfrm>
          <a:off x="0" y="0"/>
          <a:ext cx="0" cy="0"/>
          <a:chOff x="0" y="0"/>
          <a:chExt cx="0" cy="0"/>
        </a:xfrm>
      </p:grpSpPr>
      <p:sp>
        <p:nvSpPr>
          <p:cNvPr id="90" name="Google Shape;90;p1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 name="Google Shape;91;p18"/>
          <p:cNvGrpSpPr/>
          <p:nvPr/>
        </p:nvGrpSpPr>
        <p:grpSpPr>
          <a:xfrm>
            <a:off x="232200" y="-49400"/>
            <a:ext cx="8679000" cy="5250800"/>
            <a:chOff x="232200" y="-49400"/>
            <a:chExt cx="8679000" cy="5250800"/>
          </a:xfrm>
        </p:grpSpPr>
        <p:grpSp>
          <p:nvGrpSpPr>
            <p:cNvPr id="92" name="Google Shape;92;p18"/>
            <p:cNvGrpSpPr/>
            <p:nvPr/>
          </p:nvGrpSpPr>
          <p:grpSpPr>
            <a:xfrm>
              <a:off x="232200" y="-49400"/>
              <a:ext cx="8679000" cy="5250800"/>
              <a:chOff x="232200" y="-49400"/>
              <a:chExt cx="8679000" cy="5250800"/>
            </a:xfrm>
          </p:grpSpPr>
          <p:sp>
            <p:nvSpPr>
              <p:cNvPr id="93" name="Google Shape;93;p1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 name="Google Shape;94;p18"/>
              <p:cNvCxnSpPr/>
              <p:nvPr/>
            </p:nvCxnSpPr>
            <p:spPr>
              <a:xfrm rot="10800000">
                <a:off x="8911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95" name="Google Shape;95;p18"/>
              <p:cNvCxnSpPr/>
              <p:nvPr/>
            </p:nvCxnSpPr>
            <p:spPr>
              <a:xfrm rot="10800000">
                <a:off x="232200" y="4917300"/>
                <a:ext cx="0" cy="284100"/>
              </a:xfrm>
              <a:prstGeom prst="straightConnector1">
                <a:avLst/>
              </a:prstGeom>
              <a:noFill/>
              <a:ln w="19050" cap="flat" cmpd="sng">
                <a:solidFill>
                  <a:schemeClr val="dk1"/>
                </a:solidFill>
                <a:prstDash val="solid"/>
                <a:round/>
                <a:headEnd type="none" w="med" len="med"/>
                <a:tailEnd type="none" w="med" len="med"/>
              </a:ln>
            </p:spPr>
          </p:cxnSp>
        </p:grpSp>
        <p:sp>
          <p:nvSpPr>
            <p:cNvPr id="96" name="Google Shape;96;p1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 name="Google Shape;97;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8"/>
        <p:cNvGrpSpPr/>
        <p:nvPr/>
      </p:nvGrpSpPr>
      <p:grpSpPr>
        <a:xfrm>
          <a:off x="0" y="0"/>
          <a:ext cx="0" cy="0"/>
          <a:chOff x="0" y="0"/>
          <a:chExt cx="0" cy="0"/>
        </a:xfrm>
      </p:grpSpPr>
      <p:sp>
        <p:nvSpPr>
          <p:cNvPr id="99" name="Google Shape;99;p19"/>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 name="Google Shape;100;p19"/>
          <p:cNvGrpSpPr/>
          <p:nvPr/>
        </p:nvGrpSpPr>
        <p:grpSpPr>
          <a:xfrm>
            <a:off x="-19050" y="-16000"/>
            <a:ext cx="8930250" cy="4933300"/>
            <a:chOff x="-19050" y="-16000"/>
            <a:chExt cx="8930250" cy="4933300"/>
          </a:xfrm>
        </p:grpSpPr>
        <p:sp>
          <p:nvSpPr>
            <p:cNvPr id="101" name="Google Shape;101;p1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2" name="Google Shape;102;p19"/>
            <p:cNvCxnSpPr/>
            <p:nvPr/>
          </p:nvCxnSpPr>
          <p:spPr>
            <a:xfrm rot="10800000">
              <a:off x="-19050" y="49173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03" name="Google Shape;103;p19"/>
            <p:cNvCxnSpPr/>
            <p:nvPr/>
          </p:nvCxnSpPr>
          <p:spPr>
            <a:xfrm rot="10800000">
              <a:off x="8911200" y="-16000"/>
              <a:ext cx="0" cy="258900"/>
            </a:xfrm>
            <a:prstGeom prst="straightConnector1">
              <a:avLst/>
            </a:prstGeom>
            <a:noFill/>
            <a:ln w="19050" cap="flat" cmpd="sng">
              <a:solidFill>
                <a:schemeClr val="dk1"/>
              </a:solidFill>
              <a:prstDash val="solid"/>
              <a:round/>
              <a:headEnd type="none" w="med" len="med"/>
              <a:tailEnd type="none" w="med" len="med"/>
            </a:ln>
          </p:spPr>
        </p:cxnSp>
      </p:grpSp>
      <p:sp>
        <p:nvSpPr>
          <p:cNvPr id="104" name="Google Shape;104;p19"/>
          <p:cNvSpPr txBox="1">
            <a:spLocks noGrp="1"/>
          </p:cNvSpPr>
          <p:nvPr>
            <p:ph type="title"/>
          </p:nvPr>
        </p:nvSpPr>
        <p:spPr>
          <a:xfrm>
            <a:off x="720000" y="448050"/>
            <a:ext cx="77109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05" name="Google Shape;105;p19"/>
          <p:cNvSpPr txBox="1">
            <a:spLocks noGrp="1"/>
          </p:cNvSpPr>
          <p:nvPr>
            <p:ph type="subTitle" idx="1"/>
          </p:nvPr>
        </p:nvSpPr>
        <p:spPr>
          <a:xfrm>
            <a:off x="1733625" y="1361025"/>
            <a:ext cx="6580200" cy="2906100"/>
          </a:xfrm>
          <a:prstGeom prst="rect">
            <a:avLst/>
          </a:prstGeom>
        </p:spPr>
        <p:txBody>
          <a:bodyPr spcFirstLastPara="1" wrap="square" lIns="91425" tIns="91425" rIns="91425" bIns="91425" anchor="t" anchorCtr="0">
            <a:noAutofit/>
          </a:bodyPr>
          <a:lstStyle>
            <a:lvl1pPr lvl="0">
              <a:spcBef>
                <a:spcPts val="0"/>
              </a:spcBef>
              <a:spcAft>
                <a:spcPts val="0"/>
              </a:spcAft>
              <a:buSzPts val="1600"/>
              <a:buChar char="●"/>
              <a:defRPr sz="1600">
                <a:latin typeface="Hanken Grotesk"/>
                <a:ea typeface="Hanken Grotesk"/>
                <a:cs typeface="Hanken Grotesk"/>
                <a:sym typeface="Hanken Grotesk"/>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20"/>
          <p:cNvSpPr/>
          <p:nvPr/>
        </p:nvSpPr>
        <p:spPr>
          <a:xfrm>
            <a:off x="2007375" y="277690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 name="Google Shape;108;p20"/>
          <p:cNvGrpSpPr/>
          <p:nvPr/>
        </p:nvGrpSpPr>
        <p:grpSpPr>
          <a:xfrm>
            <a:off x="-25" y="533550"/>
            <a:ext cx="9270975" cy="4075025"/>
            <a:chOff x="-25" y="533550"/>
            <a:chExt cx="9270975" cy="4075025"/>
          </a:xfrm>
        </p:grpSpPr>
        <p:sp>
          <p:nvSpPr>
            <p:cNvPr id="109" name="Google Shape;109;p20"/>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800">
                <a:solidFill>
                  <a:schemeClr val="dk1"/>
                </a:solidFill>
                <a:latin typeface="Figtree Black"/>
                <a:ea typeface="Figtree Black"/>
                <a:cs typeface="Figtree Black"/>
                <a:sym typeface="Figtree Black"/>
              </a:endParaRPr>
            </a:p>
          </p:txBody>
        </p:sp>
        <p:cxnSp>
          <p:nvCxnSpPr>
            <p:cNvPr id="110" name="Google Shape;110;p20"/>
            <p:cNvCxnSpPr/>
            <p:nvPr/>
          </p:nvCxnSpPr>
          <p:spPr>
            <a:xfrm rot="10800000">
              <a:off x="8430950" y="533550"/>
              <a:ext cx="840000" cy="0"/>
            </a:xfrm>
            <a:prstGeom prst="straightConnector1">
              <a:avLst/>
            </a:prstGeom>
            <a:noFill/>
            <a:ln w="19050" cap="flat" cmpd="sng">
              <a:solidFill>
                <a:schemeClr val="dk1"/>
              </a:solidFill>
              <a:prstDash val="solid"/>
              <a:round/>
              <a:headEnd type="none" w="med" len="med"/>
              <a:tailEnd type="none" w="med" len="med"/>
            </a:ln>
          </p:spPr>
        </p:cxnSp>
        <p:cxnSp>
          <p:nvCxnSpPr>
            <p:cNvPr id="111" name="Google Shape;111;p20"/>
            <p:cNvCxnSpPr/>
            <p:nvPr/>
          </p:nvCxnSpPr>
          <p:spPr>
            <a:xfrm rot="10800000">
              <a:off x="-25" y="4608575"/>
              <a:ext cx="740700" cy="0"/>
            </a:xfrm>
            <a:prstGeom prst="straightConnector1">
              <a:avLst/>
            </a:prstGeom>
            <a:noFill/>
            <a:ln w="19050" cap="flat" cmpd="sng">
              <a:solidFill>
                <a:schemeClr val="dk1"/>
              </a:solidFill>
              <a:prstDash val="solid"/>
              <a:round/>
              <a:headEnd type="none" w="med" len="med"/>
              <a:tailEnd type="none" w="med" len="med"/>
            </a:ln>
          </p:spPr>
        </p:cxnSp>
      </p:grpSp>
      <p:sp>
        <p:nvSpPr>
          <p:cNvPr id="112" name="Google Shape;112;p20"/>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3"/>
        <p:cNvGrpSpPr/>
        <p:nvPr/>
      </p:nvGrpSpPr>
      <p:grpSpPr>
        <a:xfrm>
          <a:off x="0" y="0"/>
          <a:ext cx="0" cy="0"/>
          <a:chOff x="0" y="0"/>
          <a:chExt cx="0" cy="0"/>
        </a:xfrm>
      </p:grpSpPr>
      <p:sp>
        <p:nvSpPr>
          <p:cNvPr id="114" name="Google Shape;114;p21"/>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 name="Google Shape;115;p21"/>
          <p:cNvGrpSpPr/>
          <p:nvPr/>
        </p:nvGrpSpPr>
        <p:grpSpPr>
          <a:xfrm>
            <a:off x="727425" y="-49275"/>
            <a:ext cx="7703400" cy="5243325"/>
            <a:chOff x="727425" y="-49275"/>
            <a:chExt cx="7703400" cy="5243325"/>
          </a:xfrm>
        </p:grpSpPr>
        <p:sp>
          <p:nvSpPr>
            <p:cNvPr id="116" name="Google Shape;116;p21"/>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7" name="Google Shape;117;p21"/>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18" name="Google Shape;118;p21"/>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19" name="Google Shape;119;p21"/>
          <p:cNvSpPr txBox="1">
            <a:spLocks noGrp="1"/>
          </p:cNvSpPr>
          <p:nvPr>
            <p:ph type="title"/>
          </p:nvPr>
        </p:nvSpPr>
        <p:spPr>
          <a:xfrm>
            <a:off x="3496850" y="1021763"/>
            <a:ext cx="4294800" cy="20952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20" name="Google Shape;120;p21"/>
          <p:cNvSpPr txBox="1">
            <a:spLocks noGrp="1"/>
          </p:cNvSpPr>
          <p:nvPr>
            <p:ph type="subTitle" idx="1"/>
          </p:nvPr>
        </p:nvSpPr>
        <p:spPr>
          <a:xfrm>
            <a:off x="3496850" y="3117038"/>
            <a:ext cx="4294800" cy="10047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1"/>
        <p:cNvGrpSpPr/>
        <p:nvPr/>
      </p:nvGrpSpPr>
      <p:grpSpPr>
        <a:xfrm>
          <a:off x="0" y="0"/>
          <a:ext cx="0" cy="0"/>
          <a:chOff x="0" y="0"/>
          <a:chExt cx="0" cy="0"/>
        </a:xfrm>
      </p:grpSpPr>
      <p:sp>
        <p:nvSpPr>
          <p:cNvPr id="122" name="Google Shape;122;p22"/>
          <p:cNvSpPr>
            <a:spLocks noGrp="1"/>
          </p:cNvSpPr>
          <p:nvPr>
            <p:ph type="pic" idx="2"/>
          </p:nvPr>
        </p:nvSpPr>
        <p:spPr>
          <a:xfrm>
            <a:off x="0" y="0"/>
            <a:ext cx="9144000" cy="5143500"/>
          </a:xfrm>
          <a:prstGeom prst="rect">
            <a:avLst/>
          </a:prstGeom>
          <a:noFill/>
          <a:ln>
            <a:noFill/>
          </a:ln>
        </p:spPr>
      </p:sp>
      <p:sp>
        <p:nvSpPr>
          <p:cNvPr id="123" name="Google Shape;123;p22"/>
          <p:cNvSpPr txBox="1">
            <a:spLocks noGrp="1"/>
          </p:cNvSpPr>
          <p:nvPr>
            <p:ph type="title"/>
          </p:nvPr>
        </p:nvSpPr>
        <p:spPr>
          <a:xfrm>
            <a:off x="720000" y="4045175"/>
            <a:ext cx="7710900" cy="563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15000"/>
              </a:lnSpc>
              <a:spcBef>
                <a:spcPts val="0"/>
              </a:spcBef>
              <a:spcAft>
                <a:spcPts val="0"/>
              </a:spcAft>
              <a:buSzPts val="28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4"/>
        <p:cNvGrpSpPr/>
        <p:nvPr/>
      </p:nvGrpSpPr>
      <p:grpSpPr>
        <a:xfrm>
          <a:off x="0" y="0"/>
          <a:ext cx="0" cy="0"/>
          <a:chOff x="0" y="0"/>
          <a:chExt cx="0" cy="0"/>
        </a:xfrm>
      </p:grpSpPr>
      <p:sp>
        <p:nvSpPr>
          <p:cNvPr id="125" name="Google Shape;125;p23"/>
          <p:cNvSpPr/>
          <p:nvPr/>
        </p:nvSpPr>
        <p:spPr>
          <a:xfrm>
            <a:off x="-3422975" y="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126;p23"/>
          <p:cNvGrpSpPr/>
          <p:nvPr/>
        </p:nvGrpSpPr>
        <p:grpSpPr>
          <a:xfrm>
            <a:off x="727425" y="-382650"/>
            <a:ext cx="7703400" cy="5907300"/>
            <a:chOff x="727425" y="-382650"/>
            <a:chExt cx="7703400" cy="5907300"/>
          </a:xfrm>
        </p:grpSpPr>
        <p:sp>
          <p:nvSpPr>
            <p:cNvPr id="127" name="Google Shape;127;p23"/>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8" name="Google Shape;128;p23"/>
            <p:cNvCxnSpPr/>
            <p:nvPr/>
          </p:nvCxnSpPr>
          <p:spPr>
            <a:xfrm>
              <a:off x="727425" y="4608450"/>
              <a:ext cx="0" cy="916200"/>
            </a:xfrm>
            <a:prstGeom prst="straightConnector1">
              <a:avLst/>
            </a:prstGeom>
            <a:noFill/>
            <a:ln w="19050" cap="flat" cmpd="sng">
              <a:solidFill>
                <a:schemeClr val="dk1"/>
              </a:solidFill>
              <a:prstDash val="solid"/>
              <a:round/>
              <a:headEnd type="none" w="med" len="med"/>
              <a:tailEnd type="none" w="med" len="med"/>
            </a:ln>
          </p:spPr>
        </p:cxnSp>
        <p:cxnSp>
          <p:nvCxnSpPr>
            <p:cNvPr id="129" name="Google Shape;129;p23"/>
            <p:cNvCxnSpPr/>
            <p:nvPr/>
          </p:nvCxnSpPr>
          <p:spPr>
            <a:xfrm>
              <a:off x="8430775" y="-382650"/>
              <a:ext cx="0" cy="916200"/>
            </a:xfrm>
            <a:prstGeom prst="straightConnector1">
              <a:avLst/>
            </a:prstGeom>
            <a:noFill/>
            <a:ln w="19050" cap="flat" cmpd="sng">
              <a:solidFill>
                <a:schemeClr val="dk1"/>
              </a:solidFill>
              <a:prstDash val="solid"/>
              <a:round/>
              <a:headEnd type="none" w="med" len="med"/>
              <a:tailEnd type="none" w="med" len="med"/>
            </a:ln>
          </p:spPr>
        </p:cxnSp>
      </p:grpSp>
      <p:sp>
        <p:nvSpPr>
          <p:cNvPr id="130" name="Google Shape;130;p23"/>
          <p:cNvSpPr txBox="1">
            <a:spLocks noGrp="1"/>
          </p:cNvSpPr>
          <p:nvPr>
            <p:ph type="title" hasCustomPrompt="1"/>
          </p:nvPr>
        </p:nvSpPr>
        <p:spPr>
          <a:xfrm>
            <a:off x="2603050" y="1856113"/>
            <a:ext cx="5827800" cy="1024500"/>
          </a:xfrm>
          <a:prstGeom prst="rect">
            <a:avLst/>
          </a:prstGeom>
          <a:solidFill>
            <a:schemeClr val="dk1"/>
          </a:solidFill>
        </p:spPr>
        <p:txBody>
          <a:bodyPr spcFirstLastPara="1" wrap="square" lIns="91425" tIns="91425" rIns="91425" bIns="91425" anchor="ctr" anchorCtr="0">
            <a:noAutofit/>
          </a:bodyPr>
          <a:lstStyle>
            <a:lvl1pPr marL="0" lvl="0" indent="0">
              <a:lnSpc>
                <a:spcPct val="115000"/>
              </a:lnSpc>
              <a:spcBef>
                <a:spcPts val="0"/>
              </a:spcBef>
              <a:spcAft>
                <a:spcPts val="0"/>
              </a:spcAft>
              <a:buSzPts val="9600"/>
              <a:buNone/>
              <a:defRPr sz="49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1" name="Google Shape;131;p23"/>
          <p:cNvSpPr txBox="1">
            <a:spLocks noGrp="1"/>
          </p:cNvSpPr>
          <p:nvPr>
            <p:ph type="subTitle" idx="1"/>
          </p:nvPr>
        </p:nvSpPr>
        <p:spPr>
          <a:xfrm>
            <a:off x="2603050" y="2880588"/>
            <a:ext cx="5827800" cy="405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a:latin typeface="Hanken Grotesk"/>
                <a:ea typeface="Hanken Grotesk"/>
                <a:cs typeface="Hanken Grotesk"/>
                <a:sym typeface="Hanken Grotesk"/>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132"/>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33"/>
        <p:cNvGrpSpPr/>
        <p:nvPr/>
      </p:nvGrpSpPr>
      <p:grpSpPr>
        <a:xfrm>
          <a:off x="0" y="0"/>
          <a:ext cx="0" cy="0"/>
          <a:chOff x="0" y="0"/>
          <a:chExt cx="0" cy="0"/>
        </a:xfrm>
      </p:grpSpPr>
      <p:sp>
        <p:nvSpPr>
          <p:cNvPr id="134" name="Google Shape;134;p25"/>
          <p:cNvSpPr/>
          <p:nvPr/>
        </p:nvSpPr>
        <p:spPr>
          <a:xfrm>
            <a:off x="-941925"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135;p25"/>
          <p:cNvGrpSpPr/>
          <p:nvPr/>
        </p:nvGrpSpPr>
        <p:grpSpPr>
          <a:xfrm>
            <a:off x="-19050" y="232800"/>
            <a:ext cx="9189150" cy="4684500"/>
            <a:chOff x="-19050" y="232800"/>
            <a:chExt cx="9189150" cy="4684500"/>
          </a:xfrm>
        </p:grpSpPr>
        <p:sp>
          <p:nvSpPr>
            <p:cNvPr id="136" name="Google Shape;136;p2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7" name="Google Shape;137;p25"/>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38" name="Google Shape;138;p25"/>
            <p:cNvCxnSpPr/>
            <p:nvPr/>
          </p:nvCxnSpPr>
          <p:spPr>
            <a:xfrm rot="10800000">
              <a:off x="8911200" y="49173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139" name="Google Shape;139;p25"/>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40" name="Google Shape;140;p25"/>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41" name="Google Shape;141;p25"/>
          <p:cNvSpPr txBox="1">
            <a:spLocks noGrp="1"/>
          </p:cNvSpPr>
          <p:nvPr>
            <p:ph type="subTitle" idx="2"/>
          </p:nvPr>
        </p:nvSpPr>
        <p:spPr>
          <a:xfrm>
            <a:off x="788675" y="3772552"/>
            <a:ext cx="2305500" cy="572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42" name="Google Shape;142;p25"/>
          <p:cNvSpPr txBox="1">
            <a:spLocks noGrp="1"/>
          </p:cNvSpPr>
          <p:nvPr>
            <p:ph type="subTitle" idx="3"/>
          </p:nvPr>
        </p:nvSpPr>
        <p:spPr>
          <a:xfrm>
            <a:off x="3418500" y="3772552"/>
            <a:ext cx="2305500" cy="572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43" name="Google Shape;143;p25"/>
          <p:cNvSpPr txBox="1">
            <a:spLocks noGrp="1"/>
          </p:cNvSpPr>
          <p:nvPr>
            <p:ph type="subTitle" idx="4"/>
          </p:nvPr>
        </p:nvSpPr>
        <p:spPr>
          <a:xfrm>
            <a:off x="3418500" y="2105875"/>
            <a:ext cx="2305500" cy="572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44" name="Google Shape;144;p25"/>
          <p:cNvSpPr txBox="1">
            <a:spLocks noGrp="1"/>
          </p:cNvSpPr>
          <p:nvPr>
            <p:ph type="title" idx="5" hasCustomPrompt="1"/>
          </p:nvPr>
        </p:nvSpPr>
        <p:spPr>
          <a:xfrm>
            <a:off x="9195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5" name="Google Shape;145;p25"/>
          <p:cNvSpPr txBox="1">
            <a:spLocks noGrp="1"/>
          </p:cNvSpPr>
          <p:nvPr>
            <p:ph type="title" idx="6" hasCustomPrompt="1"/>
          </p:nvPr>
        </p:nvSpPr>
        <p:spPr>
          <a:xfrm>
            <a:off x="3509050" y="2977575"/>
            <a:ext cx="365700" cy="365700"/>
          </a:xfrm>
          <a:prstGeom prst="rect">
            <a:avLst/>
          </a:prstGeom>
          <a:solidFill>
            <a:schemeClr val="dk1"/>
          </a:solidFill>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6" name="Google Shape;146;p25"/>
          <p:cNvSpPr txBox="1">
            <a:spLocks noGrp="1"/>
          </p:cNvSpPr>
          <p:nvPr>
            <p:ph type="title" idx="7" hasCustomPrompt="1"/>
          </p:nvPr>
        </p:nvSpPr>
        <p:spPr>
          <a:xfrm>
            <a:off x="9195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7" name="Google Shape;147;p25"/>
          <p:cNvSpPr txBox="1">
            <a:spLocks noGrp="1"/>
          </p:cNvSpPr>
          <p:nvPr>
            <p:ph type="title" idx="8" hasCustomPrompt="1"/>
          </p:nvPr>
        </p:nvSpPr>
        <p:spPr>
          <a:xfrm>
            <a:off x="35282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8" name="Google Shape;148;p25"/>
          <p:cNvSpPr txBox="1">
            <a:spLocks noGrp="1"/>
          </p:cNvSpPr>
          <p:nvPr>
            <p:ph type="subTitle" idx="9"/>
          </p:nvPr>
        </p:nvSpPr>
        <p:spPr>
          <a:xfrm>
            <a:off x="6048325" y="3772552"/>
            <a:ext cx="2305500" cy="572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49" name="Google Shape;149;p25"/>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50" name="Google Shape;150;p25"/>
          <p:cNvSpPr txBox="1">
            <a:spLocks noGrp="1"/>
          </p:cNvSpPr>
          <p:nvPr>
            <p:ph type="title" idx="14" hasCustomPrompt="1"/>
          </p:nvPr>
        </p:nvSpPr>
        <p:spPr>
          <a:xfrm>
            <a:off x="61369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1" name="Google Shape;151;p25"/>
          <p:cNvSpPr txBox="1">
            <a:spLocks noGrp="1"/>
          </p:cNvSpPr>
          <p:nvPr>
            <p:ph type="title" idx="15" hasCustomPrompt="1"/>
          </p:nvPr>
        </p:nvSpPr>
        <p:spPr>
          <a:xfrm>
            <a:off x="61369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2" name="Google Shape;152;p25"/>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53" name="Google Shape;153;p25"/>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54" name="Google Shape;154;p25"/>
          <p:cNvSpPr txBox="1">
            <a:spLocks noGrp="1"/>
          </p:cNvSpPr>
          <p:nvPr>
            <p:ph type="subTitle" idx="18"/>
          </p:nvPr>
        </p:nvSpPr>
        <p:spPr>
          <a:xfrm>
            <a:off x="3418500" y="3503023"/>
            <a:ext cx="2305500" cy="3852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55" name="Google Shape;155;p25"/>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56" name="Google Shape;156;p25"/>
          <p:cNvSpPr txBox="1">
            <a:spLocks noGrp="1"/>
          </p:cNvSpPr>
          <p:nvPr>
            <p:ph type="subTitle" idx="20"/>
          </p:nvPr>
        </p:nvSpPr>
        <p:spPr>
          <a:xfrm>
            <a:off x="6048325" y="3503023"/>
            <a:ext cx="2305500" cy="3852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57" name="Google Shape;157;p25"/>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58"/>
        <p:cNvGrpSpPr/>
        <p:nvPr/>
      </p:nvGrpSpPr>
      <p:grpSpPr>
        <a:xfrm>
          <a:off x="0" y="0"/>
          <a:ext cx="0" cy="0"/>
          <a:chOff x="0" y="0"/>
          <a:chExt cx="0" cy="0"/>
        </a:xfrm>
      </p:grpSpPr>
      <p:sp>
        <p:nvSpPr>
          <p:cNvPr id="159" name="Google Shape;159;p26"/>
          <p:cNvSpPr/>
          <p:nvPr/>
        </p:nvSpPr>
        <p:spPr>
          <a:xfrm>
            <a:off x="-2125550" y="3018625"/>
            <a:ext cx="4243200" cy="4243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 name="Google Shape;160;p26"/>
          <p:cNvGrpSpPr/>
          <p:nvPr/>
        </p:nvGrpSpPr>
        <p:grpSpPr>
          <a:xfrm>
            <a:off x="727425" y="-29250"/>
            <a:ext cx="8550550" cy="4637825"/>
            <a:chOff x="727425" y="-29250"/>
            <a:chExt cx="8550550" cy="4637825"/>
          </a:xfrm>
        </p:grpSpPr>
        <p:sp>
          <p:nvSpPr>
            <p:cNvPr id="161" name="Google Shape;161;p26"/>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2" name="Google Shape;162;p26"/>
            <p:cNvCxnSpPr/>
            <p:nvPr/>
          </p:nvCxnSpPr>
          <p:spPr>
            <a:xfrm rot="10800000">
              <a:off x="727425" y="-29250"/>
              <a:ext cx="0" cy="562800"/>
            </a:xfrm>
            <a:prstGeom prst="straightConnector1">
              <a:avLst/>
            </a:prstGeom>
            <a:noFill/>
            <a:ln w="19050" cap="flat" cmpd="sng">
              <a:solidFill>
                <a:schemeClr val="dk1"/>
              </a:solidFill>
              <a:prstDash val="solid"/>
              <a:round/>
              <a:headEnd type="none" w="med" len="med"/>
              <a:tailEnd type="none" w="med" len="med"/>
            </a:ln>
          </p:spPr>
        </p:cxnSp>
        <p:cxnSp>
          <p:nvCxnSpPr>
            <p:cNvPr id="163" name="Google Shape;163;p26"/>
            <p:cNvCxnSpPr/>
            <p:nvPr/>
          </p:nvCxnSpPr>
          <p:spPr>
            <a:xfrm>
              <a:off x="8430775" y="4608575"/>
              <a:ext cx="847200" cy="0"/>
            </a:xfrm>
            <a:prstGeom prst="straightConnector1">
              <a:avLst/>
            </a:prstGeom>
            <a:noFill/>
            <a:ln w="19050" cap="flat" cmpd="sng">
              <a:solidFill>
                <a:schemeClr val="dk1"/>
              </a:solidFill>
              <a:prstDash val="solid"/>
              <a:round/>
              <a:headEnd type="none" w="med" len="med"/>
              <a:tailEnd type="none" w="med" len="med"/>
            </a:ln>
          </p:spPr>
        </p:cxnSp>
      </p:grpSp>
      <p:sp>
        <p:nvSpPr>
          <p:cNvPr id="164" name="Google Shape;164;p26"/>
          <p:cNvSpPr txBox="1">
            <a:spLocks noGrp="1"/>
          </p:cNvSpPr>
          <p:nvPr>
            <p:ph type="title"/>
          </p:nvPr>
        </p:nvSpPr>
        <p:spPr>
          <a:xfrm>
            <a:off x="2212125" y="2464650"/>
            <a:ext cx="5913900" cy="531900"/>
          </a:xfrm>
          <a:prstGeom prst="rect">
            <a:avLst/>
          </a:prstGeom>
        </p:spPr>
        <p:txBody>
          <a:bodyPr spcFirstLastPara="1" wrap="square" lIns="91425" tIns="91425" rIns="91425" bIns="91425" anchor="t" anchorCtr="0">
            <a:noAutofit/>
          </a:bodyPr>
          <a:lstStyle>
            <a:lvl1pPr lvl="0" algn="r">
              <a:lnSpc>
                <a:spcPct val="115000"/>
              </a:lnSpc>
              <a:spcBef>
                <a:spcPts val="0"/>
              </a:spcBef>
              <a:spcAft>
                <a:spcPts val="0"/>
              </a:spcAft>
              <a:buSzPts val="3000"/>
              <a:buNone/>
              <a:defRPr sz="28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165" name="Google Shape;165;p26"/>
          <p:cNvSpPr txBox="1">
            <a:spLocks noGrp="1"/>
          </p:cNvSpPr>
          <p:nvPr>
            <p:ph type="subTitle" idx="1"/>
          </p:nvPr>
        </p:nvSpPr>
        <p:spPr>
          <a:xfrm>
            <a:off x="2212125" y="838350"/>
            <a:ext cx="5913900" cy="1626300"/>
          </a:xfrm>
          <a:prstGeom prst="rect">
            <a:avLst/>
          </a:prstGeom>
        </p:spPr>
        <p:txBody>
          <a:bodyPr spcFirstLastPara="1" wrap="square" lIns="91425" tIns="91425" rIns="91425" bIns="91425" anchor="b" anchorCtr="0">
            <a:noAutofit/>
          </a:bodyPr>
          <a:lstStyle>
            <a:lvl1pPr lvl="0" algn="r">
              <a:spcBef>
                <a:spcPts val="0"/>
              </a:spcBef>
              <a:spcAft>
                <a:spcPts val="0"/>
              </a:spcAft>
              <a:buSzPts val="3000"/>
              <a:buNone/>
              <a:defRPr sz="2500">
                <a:latin typeface="Hanken Grotesk"/>
                <a:ea typeface="Hanken Grotesk"/>
                <a:cs typeface="Hanken Grotesk"/>
                <a:sym typeface="Hanken Grotesk"/>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166"/>
        <p:cNvGrpSpPr/>
        <p:nvPr/>
      </p:nvGrpSpPr>
      <p:grpSpPr>
        <a:xfrm>
          <a:off x="0" y="0"/>
          <a:ext cx="0" cy="0"/>
          <a:chOff x="0" y="0"/>
          <a:chExt cx="0" cy="0"/>
        </a:xfrm>
      </p:grpSpPr>
      <p:sp>
        <p:nvSpPr>
          <p:cNvPr id="167" name="Google Shape;167;p27"/>
          <p:cNvSpPr/>
          <p:nvPr/>
        </p:nvSpPr>
        <p:spPr>
          <a:xfrm>
            <a:off x="35528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27"/>
          <p:cNvGrpSpPr/>
          <p:nvPr/>
        </p:nvGrpSpPr>
        <p:grpSpPr>
          <a:xfrm>
            <a:off x="-50475" y="232800"/>
            <a:ext cx="8961675" cy="4684500"/>
            <a:chOff x="-50475" y="232800"/>
            <a:chExt cx="8961675" cy="4684500"/>
          </a:xfrm>
        </p:grpSpPr>
        <p:sp>
          <p:nvSpPr>
            <p:cNvPr id="169" name="Google Shape;169;p27"/>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27"/>
            <p:cNvCxnSpPr/>
            <p:nvPr/>
          </p:nvCxnSpPr>
          <p:spPr>
            <a:xfrm rot="10800000">
              <a:off x="-50475" y="232800"/>
              <a:ext cx="309300" cy="0"/>
            </a:xfrm>
            <a:prstGeom prst="straightConnector1">
              <a:avLst/>
            </a:prstGeom>
            <a:noFill/>
            <a:ln w="19050" cap="flat" cmpd="sng">
              <a:solidFill>
                <a:schemeClr val="dk1"/>
              </a:solidFill>
              <a:prstDash val="solid"/>
              <a:round/>
              <a:headEnd type="none" w="med" len="med"/>
              <a:tailEnd type="none" w="med" len="med"/>
            </a:ln>
          </p:spPr>
        </p:cxnSp>
      </p:grpSp>
      <p:sp>
        <p:nvSpPr>
          <p:cNvPr id="171" name="Google Shape;171;p27"/>
          <p:cNvSpPr txBox="1">
            <a:spLocks noGrp="1"/>
          </p:cNvSpPr>
          <p:nvPr>
            <p:ph type="title"/>
          </p:nvPr>
        </p:nvSpPr>
        <p:spPr>
          <a:xfrm>
            <a:off x="720000" y="1203900"/>
            <a:ext cx="3198300" cy="15021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72" name="Google Shape;172;p27"/>
          <p:cNvSpPr txBox="1">
            <a:spLocks noGrp="1"/>
          </p:cNvSpPr>
          <p:nvPr>
            <p:ph type="subTitle" idx="1"/>
          </p:nvPr>
        </p:nvSpPr>
        <p:spPr>
          <a:xfrm>
            <a:off x="720000" y="2706062"/>
            <a:ext cx="3198300" cy="1461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atin typeface="Hanken Grotesk"/>
                <a:ea typeface="Hanken Grotesk"/>
                <a:cs typeface="Hanken Grotesk"/>
                <a:sym typeface="Hanken Grotesk"/>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3" name="Google Shape;173;p27"/>
          <p:cNvSpPr>
            <a:spLocks noGrp="1"/>
          </p:cNvSpPr>
          <p:nvPr>
            <p:ph type="pic" idx="2"/>
          </p:nvPr>
        </p:nvSpPr>
        <p:spPr>
          <a:xfrm>
            <a:off x="4494050" y="0"/>
            <a:ext cx="4650000" cy="5143500"/>
          </a:xfrm>
          <a:prstGeom prst="rect">
            <a:avLst/>
          </a:prstGeom>
          <a:noFill/>
          <a:ln w="19050" cap="flat" cmpd="sng">
            <a:solidFill>
              <a:schemeClr val="dk1"/>
            </a:solidFill>
            <a:prstDash val="solid"/>
            <a:round/>
            <a:headEnd type="none" w="sm" len="sm"/>
            <a:tailEnd type="none" w="sm" len="sm"/>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74"/>
        <p:cNvGrpSpPr/>
        <p:nvPr/>
      </p:nvGrpSpPr>
      <p:grpSpPr>
        <a:xfrm>
          <a:off x="0" y="0"/>
          <a:ext cx="0" cy="0"/>
          <a:chOff x="0" y="0"/>
          <a:chExt cx="0" cy="0"/>
        </a:xfrm>
      </p:grpSpPr>
      <p:sp>
        <p:nvSpPr>
          <p:cNvPr id="175" name="Google Shape;175;p28"/>
          <p:cNvSpPr/>
          <p:nvPr/>
        </p:nvSpPr>
        <p:spPr>
          <a:xfrm>
            <a:off x="-923000" y="-945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 name="Google Shape;176;p28"/>
          <p:cNvGrpSpPr/>
          <p:nvPr/>
        </p:nvGrpSpPr>
        <p:grpSpPr>
          <a:xfrm>
            <a:off x="-19050" y="232800"/>
            <a:ext cx="9176275" cy="4684500"/>
            <a:chOff x="-19050" y="232800"/>
            <a:chExt cx="9176275" cy="4684500"/>
          </a:xfrm>
        </p:grpSpPr>
        <p:sp>
          <p:nvSpPr>
            <p:cNvPr id="177" name="Google Shape;177;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8" name="Google Shape;178;p28"/>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79" name="Google Shape;179;p28"/>
            <p:cNvCxnSpPr/>
            <p:nvPr/>
          </p:nvCxnSpPr>
          <p:spPr>
            <a:xfrm>
              <a:off x="8917525" y="4917300"/>
              <a:ext cx="239700" cy="0"/>
            </a:xfrm>
            <a:prstGeom prst="straightConnector1">
              <a:avLst/>
            </a:prstGeom>
            <a:noFill/>
            <a:ln w="19050" cap="flat" cmpd="sng">
              <a:solidFill>
                <a:schemeClr val="dk1"/>
              </a:solidFill>
              <a:prstDash val="solid"/>
              <a:round/>
              <a:headEnd type="none" w="med" len="med"/>
              <a:tailEnd type="none" w="med" len="med"/>
            </a:ln>
          </p:spPr>
        </p:cxnSp>
      </p:grpSp>
      <p:sp>
        <p:nvSpPr>
          <p:cNvPr id="180" name="Google Shape;180;p28"/>
          <p:cNvSpPr txBox="1">
            <a:spLocks noGrp="1"/>
          </p:cNvSpPr>
          <p:nvPr>
            <p:ph type="title"/>
          </p:nvPr>
        </p:nvSpPr>
        <p:spPr>
          <a:xfrm>
            <a:off x="878875" y="1533125"/>
            <a:ext cx="3024900" cy="6423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sz="2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81" name="Google Shape;181;p28"/>
          <p:cNvSpPr txBox="1">
            <a:spLocks noGrp="1"/>
          </p:cNvSpPr>
          <p:nvPr>
            <p:ph type="subTitle" idx="1"/>
          </p:nvPr>
        </p:nvSpPr>
        <p:spPr>
          <a:xfrm>
            <a:off x="878875" y="2175300"/>
            <a:ext cx="3024900" cy="1211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atin typeface="Hanken Grotesk"/>
                <a:ea typeface="Hanken Grotesk"/>
                <a:cs typeface="Hanken Grotesk"/>
                <a:sym typeface="Hanken Grotesk"/>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2">
  <p:cSld name="CUSTOM_10">
    <p:spTree>
      <p:nvGrpSpPr>
        <p:cNvPr id="1" name="Shape 182"/>
        <p:cNvGrpSpPr/>
        <p:nvPr/>
      </p:nvGrpSpPr>
      <p:grpSpPr>
        <a:xfrm>
          <a:off x="0" y="0"/>
          <a:ext cx="0" cy="0"/>
          <a:chOff x="0" y="0"/>
          <a:chExt cx="0" cy="0"/>
        </a:xfrm>
      </p:grpSpPr>
      <p:sp>
        <p:nvSpPr>
          <p:cNvPr id="183" name="Google Shape;183;p29"/>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 name="Google Shape;184;p29"/>
          <p:cNvGrpSpPr/>
          <p:nvPr/>
        </p:nvGrpSpPr>
        <p:grpSpPr>
          <a:xfrm>
            <a:off x="232200" y="232800"/>
            <a:ext cx="8937900" cy="4932875"/>
            <a:chOff x="232200" y="232800"/>
            <a:chExt cx="8937900" cy="4932875"/>
          </a:xfrm>
        </p:grpSpPr>
        <p:sp>
          <p:nvSpPr>
            <p:cNvPr id="185" name="Google Shape;185;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6" name="Google Shape;186;p29"/>
            <p:cNvCxnSpPr/>
            <p:nvPr/>
          </p:nvCxnSpPr>
          <p:spPr>
            <a:xfrm rot="10800000">
              <a:off x="891120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87" name="Google Shape;187;p29"/>
            <p:cNvCxnSpPr/>
            <p:nvPr/>
          </p:nvCxnSpPr>
          <p:spPr>
            <a:xfrm>
              <a:off x="233525" y="4913075"/>
              <a:ext cx="0" cy="252600"/>
            </a:xfrm>
            <a:prstGeom prst="straightConnector1">
              <a:avLst/>
            </a:prstGeom>
            <a:noFill/>
            <a:ln w="19050" cap="flat" cmpd="sng">
              <a:solidFill>
                <a:schemeClr val="dk1"/>
              </a:solidFill>
              <a:prstDash val="solid"/>
              <a:round/>
              <a:headEnd type="none" w="med" len="med"/>
              <a:tailEnd type="none" w="med" len="med"/>
            </a:ln>
          </p:spPr>
        </p:cxnSp>
      </p:grpSp>
      <p:sp>
        <p:nvSpPr>
          <p:cNvPr id="188" name="Google Shape;188;p29"/>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atin typeface="Lato"/>
                <a:ea typeface="Lato"/>
                <a:cs typeface="Lato"/>
                <a:sym typeface="Lato"/>
              </a:defRPr>
            </a:lvl2pPr>
            <a:lvl3pPr lvl="2">
              <a:spcBef>
                <a:spcPts val="0"/>
              </a:spcBef>
              <a:spcAft>
                <a:spcPts val="0"/>
              </a:spcAft>
              <a:buSzPts val="3000"/>
              <a:buNone/>
              <a:defRPr>
                <a:latin typeface="Lato"/>
                <a:ea typeface="Lato"/>
                <a:cs typeface="Lato"/>
                <a:sym typeface="Lato"/>
              </a:defRPr>
            </a:lvl3pPr>
            <a:lvl4pPr lvl="3">
              <a:spcBef>
                <a:spcPts val="0"/>
              </a:spcBef>
              <a:spcAft>
                <a:spcPts val="0"/>
              </a:spcAft>
              <a:buSzPts val="3000"/>
              <a:buNone/>
              <a:defRPr>
                <a:latin typeface="Lato"/>
                <a:ea typeface="Lato"/>
                <a:cs typeface="Lato"/>
                <a:sym typeface="Lato"/>
              </a:defRPr>
            </a:lvl4pPr>
            <a:lvl5pPr lvl="4">
              <a:spcBef>
                <a:spcPts val="0"/>
              </a:spcBef>
              <a:spcAft>
                <a:spcPts val="0"/>
              </a:spcAft>
              <a:buSzPts val="3000"/>
              <a:buNone/>
              <a:defRPr>
                <a:latin typeface="Lato"/>
                <a:ea typeface="Lato"/>
                <a:cs typeface="Lato"/>
                <a:sym typeface="Lato"/>
              </a:defRPr>
            </a:lvl5pPr>
            <a:lvl6pPr lvl="5">
              <a:spcBef>
                <a:spcPts val="0"/>
              </a:spcBef>
              <a:spcAft>
                <a:spcPts val="0"/>
              </a:spcAft>
              <a:buSzPts val="3000"/>
              <a:buNone/>
              <a:defRPr>
                <a:latin typeface="Lato"/>
                <a:ea typeface="Lato"/>
                <a:cs typeface="Lato"/>
                <a:sym typeface="Lato"/>
              </a:defRPr>
            </a:lvl6pPr>
            <a:lvl7pPr lvl="6">
              <a:spcBef>
                <a:spcPts val="0"/>
              </a:spcBef>
              <a:spcAft>
                <a:spcPts val="0"/>
              </a:spcAft>
              <a:buSzPts val="3000"/>
              <a:buNone/>
              <a:defRPr>
                <a:latin typeface="Lato"/>
                <a:ea typeface="Lato"/>
                <a:cs typeface="Lato"/>
                <a:sym typeface="Lato"/>
              </a:defRPr>
            </a:lvl7pPr>
            <a:lvl8pPr lvl="7">
              <a:spcBef>
                <a:spcPts val="0"/>
              </a:spcBef>
              <a:spcAft>
                <a:spcPts val="0"/>
              </a:spcAft>
              <a:buSzPts val="3000"/>
              <a:buNone/>
              <a:defRPr>
                <a:latin typeface="Lato"/>
                <a:ea typeface="Lato"/>
                <a:cs typeface="Lato"/>
                <a:sym typeface="Lato"/>
              </a:defRPr>
            </a:lvl8pPr>
            <a:lvl9pPr lvl="8">
              <a:spcBef>
                <a:spcPts val="0"/>
              </a:spcBef>
              <a:spcAft>
                <a:spcPts val="0"/>
              </a:spcAft>
              <a:buSzPts val="3000"/>
              <a:buNone/>
              <a:defRPr>
                <a:latin typeface="Lato"/>
                <a:ea typeface="Lato"/>
                <a:cs typeface="Lato"/>
                <a:sym typeface="Lato"/>
              </a:defRPr>
            </a:lvl9pPr>
          </a:lstStyle>
          <a:p>
            <a:endParaRPr/>
          </a:p>
        </p:txBody>
      </p:sp>
      <p:sp>
        <p:nvSpPr>
          <p:cNvPr id="189" name="Google Shape;189;p29"/>
          <p:cNvSpPr txBox="1">
            <a:spLocks noGrp="1"/>
          </p:cNvSpPr>
          <p:nvPr>
            <p:ph type="subTitle" idx="1"/>
          </p:nvPr>
        </p:nvSpPr>
        <p:spPr>
          <a:xfrm>
            <a:off x="713250" y="1017725"/>
            <a:ext cx="7717500" cy="889800"/>
          </a:xfrm>
          <a:prstGeom prst="rect">
            <a:avLst/>
          </a:prstGeom>
        </p:spPr>
        <p:txBody>
          <a:bodyPr spcFirstLastPara="1" wrap="square" lIns="91425" tIns="91425" rIns="91425" bIns="91425" anchor="t" anchorCtr="0">
            <a:noAutofit/>
          </a:bodyPr>
          <a:lstStyle>
            <a:lvl1pPr lvl="0">
              <a:spcBef>
                <a:spcPts val="0"/>
              </a:spcBef>
              <a:spcAft>
                <a:spcPts val="0"/>
              </a:spcAft>
              <a:buSzPts val="1200"/>
              <a:buChar char="●"/>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3">
  <p:cSld name="CUSTOM_10_1">
    <p:spTree>
      <p:nvGrpSpPr>
        <p:cNvPr id="1" name="Shape 190"/>
        <p:cNvGrpSpPr/>
        <p:nvPr/>
      </p:nvGrpSpPr>
      <p:grpSpPr>
        <a:xfrm>
          <a:off x="0" y="0"/>
          <a:ext cx="0" cy="0"/>
          <a:chOff x="0" y="0"/>
          <a:chExt cx="0" cy="0"/>
        </a:xfrm>
      </p:grpSpPr>
      <p:sp>
        <p:nvSpPr>
          <p:cNvPr id="191" name="Google Shape;191;p30"/>
          <p:cNvSpPr/>
          <p:nvPr/>
        </p:nvSpPr>
        <p:spPr>
          <a:xfrm>
            <a:off x="7069475" y="3282725"/>
            <a:ext cx="3701700" cy="3701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2" name="Google Shape;192;p30"/>
          <p:cNvGrpSpPr/>
          <p:nvPr/>
        </p:nvGrpSpPr>
        <p:grpSpPr>
          <a:xfrm>
            <a:off x="-19050" y="232800"/>
            <a:ext cx="8930250" cy="5117250"/>
            <a:chOff x="-19050" y="232800"/>
            <a:chExt cx="8930250" cy="5117250"/>
          </a:xfrm>
        </p:grpSpPr>
        <p:sp>
          <p:nvSpPr>
            <p:cNvPr id="193" name="Google Shape;193;p30"/>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4" name="Google Shape;194;p30"/>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195" name="Google Shape;195;p30"/>
            <p:cNvCxnSpPr/>
            <p:nvPr/>
          </p:nvCxnSpPr>
          <p:spPr>
            <a:xfrm rot="10800000">
              <a:off x="8911200" y="4917150"/>
              <a:ext cx="0" cy="432900"/>
            </a:xfrm>
            <a:prstGeom prst="straightConnector1">
              <a:avLst/>
            </a:prstGeom>
            <a:noFill/>
            <a:ln w="19050" cap="flat" cmpd="sng">
              <a:solidFill>
                <a:schemeClr val="dk1"/>
              </a:solidFill>
              <a:prstDash val="solid"/>
              <a:round/>
              <a:headEnd type="none" w="med" len="med"/>
              <a:tailEnd type="none" w="med" len="med"/>
            </a:ln>
          </p:spPr>
        </p:cxnSp>
      </p:grpSp>
      <p:sp>
        <p:nvSpPr>
          <p:cNvPr id="196" name="Google Shape;196;p30"/>
          <p:cNvSpPr txBox="1">
            <a:spLocks noGrp="1"/>
          </p:cNvSpPr>
          <p:nvPr>
            <p:ph type="title"/>
          </p:nvPr>
        </p:nvSpPr>
        <p:spPr>
          <a:xfrm>
            <a:off x="722326" y="445025"/>
            <a:ext cx="7708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atin typeface="Lato"/>
                <a:ea typeface="Lato"/>
                <a:cs typeface="Lato"/>
                <a:sym typeface="Lato"/>
              </a:defRPr>
            </a:lvl2pPr>
            <a:lvl3pPr lvl="2">
              <a:spcBef>
                <a:spcPts val="0"/>
              </a:spcBef>
              <a:spcAft>
                <a:spcPts val="0"/>
              </a:spcAft>
              <a:buSzPts val="3000"/>
              <a:buNone/>
              <a:defRPr>
                <a:latin typeface="Lato"/>
                <a:ea typeface="Lato"/>
                <a:cs typeface="Lato"/>
                <a:sym typeface="Lato"/>
              </a:defRPr>
            </a:lvl3pPr>
            <a:lvl4pPr lvl="3">
              <a:spcBef>
                <a:spcPts val="0"/>
              </a:spcBef>
              <a:spcAft>
                <a:spcPts val="0"/>
              </a:spcAft>
              <a:buSzPts val="3000"/>
              <a:buNone/>
              <a:defRPr>
                <a:latin typeface="Lato"/>
                <a:ea typeface="Lato"/>
                <a:cs typeface="Lato"/>
                <a:sym typeface="Lato"/>
              </a:defRPr>
            </a:lvl4pPr>
            <a:lvl5pPr lvl="4">
              <a:spcBef>
                <a:spcPts val="0"/>
              </a:spcBef>
              <a:spcAft>
                <a:spcPts val="0"/>
              </a:spcAft>
              <a:buSzPts val="3000"/>
              <a:buNone/>
              <a:defRPr>
                <a:latin typeface="Lato"/>
                <a:ea typeface="Lato"/>
                <a:cs typeface="Lato"/>
                <a:sym typeface="Lato"/>
              </a:defRPr>
            </a:lvl5pPr>
            <a:lvl6pPr lvl="5">
              <a:spcBef>
                <a:spcPts val="0"/>
              </a:spcBef>
              <a:spcAft>
                <a:spcPts val="0"/>
              </a:spcAft>
              <a:buSzPts val="3000"/>
              <a:buNone/>
              <a:defRPr>
                <a:latin typeface="Lato"/>
                <a:ea typeface="Lato"/>
                <a:cs typeface="Lato"/>
                <a:sym typeface="Lato"/>
              </a:defRPr>
            </a:lvl6pPr>
            <a:lvl7pPr lvl="6">
              <a:spcBef>
                <a:spcPts val="0"/>
              </a:spcBef>
              <a:spcAft>
                <a:spcPts val="0"/>
              </a:spcAft>
              <a:buSzPts val="3000"/>
              <a:buNone/>
              <a:defRPr>
                <a:latin typeface="Lato"/>
                <a:ea typeface="Lato"/>
                <a:cs typeface="Lato"/>
                <a:sym typeface="Lato"/>
              </a:defRPr>
            </a:lvl7pPr>
            <a:lvl8pPr lvl="7">
              <a:spcBef>
                <a:spcPts val="0"/>
              </a:spcBef>
              <a:spcAft>
                <a:spcPts val="0"/>
              </a:spcAft>
              <a:buSzPts val="3000"/>
              <a:buNone/>
              <a:defRPr>
                <a:latin typeface="Lato"/>
                <a:ea typeface="Lato"/>
                <a:cs typeface="Lato"/>
                <a:sym typeface="Lato"/>
              </a:defRPr>
            </a:lvl8pPr>
            <a:lvl9pPr lvl="8">
              <a:spcBef>
                <a:spcPts val="0"/>
              </a:spcBef>
              <a:spcAft>
                <a:spcPts val="0"/>
              </a:spcAft>
              <a:buSzPts val="3000"/>
              <a:buNone/>
              <a:defRPr>
                <a:latin typeface="Lato"/>
                <a:ea typeface="Lato"/>
                <a:cs typeface="Lato"/>
                <a:sym typeface="Lato"/>
              </a:defRPr>
            </a:lvl9pPr>
          </a:lstStyle>
          <a:p>
            <a:endParaRPr/>
          </a:p>
        </p:txBody>
      </p:sp>
      <p:sp>
        <p:nvSpPr>
          <p:cNvPr id="197" name="Google Shape;197;p30"/>
          <p:cNvSpPr txBox="1">
            <a:spLocks noGrp="1"/>
          </p:cNvSpPr>
          <p:nvPr>
            <p:ph type="subTitle" idx="1"/>
          </p:nvPr>
        </p:nvSpPr>
        <p:spPr>
          <a:xfrm>
            <a:off x="713175" y="1421525"/>
            <a:ext cx="5945400" cy="2600700"/>
          </a:xfrm>
          <a:prstGeom prst="rect">
            <a:avLst/>
          </a:prstGeom>
        </p:spPr>
        <p:txBody>
          <a:bodyPr spcFirstLastPara="1" wrap="square" lIns="91425" tIns="91425" rIns="91425" bIns="91425" anchor="t" anchorCtr="0">
            <a:noAutofit/>
          </a:bodyPr>
          <a:lstStyle>
            <a:lvl1pPr lvl="0">
              <a:spcBef>
                <a:spcPts val="0"/>
              </a:spcBef>
              <a:spcAft>
                <a:spcPts val="0"/>
              </a:spcAft>
              <a:buSzPts val="1200"/>
              <a:buChar char="●"/>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98"/>
        <p:cNvGrpSpPr/>
        <p:nvPr/>
      </p:nvGrpSpPr>
      <p:grpSpPr>
        <a:xfrm>
          <a:off x="0" y="0"/>
          <a:ext cx="0" cy="0"/>
          <a:chOff x="0" y="0"/>
          <a:chExt cx="0" cy="0"/>
        </a:xfrm>
      </p:grpSpPr>
      <p:sp>
        <p:nvSpPr>
          <p:cNvPr id="199" name="Google Shape;199;p31"/>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 name="Google Shape;200;p31"/>
          <p:cNvGrpSpPr/>
          <p:nvPr/>
        </p:nvGrpSpPr>
        <p:grpSpPr>
          <a:xfrm>
            <a:off x="232200" y="232800"/>
            <a:ext cx="8988300" cy="5000100"/>
            <a:chOff x="232200" y="232800"/>
            <a:chExt cx="8988300" cy="5000100"/>
          </a:xfrm>
        </p:grpSpPr>
        <p:sp>
          <p:nvSpPr>
            <p:cNvPr id="201" name="Google Shape;201;p31"/>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2" name="Google Shape;202;p31"/>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203" name="Google Shape;203;p31"/>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204" name="Google Shape;204;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5" name="Google Shape;205;p31"/>
          <p:cNvSpPr txBox="1">
            <a:spLocks noGrp="1"/>
          </p:cNvSpPr>
          <p:nvPr>
            <p:ph type="subTitle" idx="1"/>
          </p:nvPr>
        </p:nvSpPr>
        <p:spPr>
          <a:xfrm>
            <a:off x="977801" y="2514225"/>
            <a:ext cx="2242500" cy="994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06" name="Google Shape;206;p31"/>
          <p:cNvSpPr txBox="1">
            <a:spLocks noGrp="1"/>
          </p:cNvSpPr>
          <p:nvPr>
            <p:ph type="subTitle" idx="2"/>
          </p:nvPr>
        </p:nvSpPr>
        <p:spPr>
          <a:xfrm>
            <a:off x="3450748" y="2514225"/>
            <a:ext cx="2242500" cy="994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07" name="Google Shape;207;p31"/>
          <p:cNvSpPr txBox="1">
            <a:spLocks noGrp="1"/>
          </p:cNvSpPr>
          <p:nvPr>
            <p:ph type="subTitle" idx="3"/>
          </p:nvPr>
        </p:nvSpPr>
        <p:spPr>
          <a:xfrm>
            <a:off x="5923698" y="2514225"/>
            <a:ext cx="2242500" cy="994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08" name="Google Shape;208;p31"/>
          <p:cNvSpPr txBox="1">
            <a:spLocks noGrp="1"/>
          </p:cNvSpPr>
          <p:nvPr>
            <p:ph type="subTitle" idx="4"/>
          </p:nvPr>
        </p:nvSpPr>
        <p:spPr>
          <a:xfrm>
            <a:off x="977803" y="2285625"/>
            <a:ext cx="2242500" cy="3657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209" name="Google Shape;209;p31"/>
          <p:cNvSpPr txBox="1">
            <a:spLocks noGrp="1"/>
          </p:cNvSpPr>
          <p:nvPr>
            <p:ph type="subTitle" idx="5"/>
          </p:nvPr>
        </p:nvSpPr>
        <p:spPr>
          <a:xfrm>
            <a:off x="3450747" y="2285625"/>
            <a:ext cx="2242500" cy="3657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210" name="Google Shape;210;p31"/>
          <p:cNvSpPr txBox="1">
            <a:spLocks noGrp="1"/>
          </p:cNvSpPr>
          <p:nvPr>
            <p:ph type="subTitle" idx="6"/>
          </p:nvPr>
        </p:nvSpPr>
        <p:spPr>
          <a:xfrm>
            <a:off x="5923697" y="2285625"/>
            <a:ext cx="2242500" cy="3657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211"/>
        <p:cNvGrpSpPr/>
        <p:nvPr/>
      </p:nvGrpSpPr>
      <p:grpSpPr>
        <a:xfrm>
          <a:off x="0" y="0"/>
          <a:ext cx="0" cy="0"/>
          <a:chOff x="0" y="0"/>
          <a:chExt cx="0" cy="0"/>
        </a:xfrm>
      </p:grpSpPr>
      <p:sp>
        <p:nvSpPr>
          <p:cNvPr id="212" name="Google Shape;212;p32"/>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 name="Google Shape;213;p32"/>
          <p:cNvGrpSpPr/>
          <p:nvPr/>
        </p:nvGrpSpPr>
        <p:grpSpPr>
          <a:xfrm>
            <a:off x="-725" y="1466925"/>
            <a:ext cx="939900" cy="2326875"/>
            <a:chOff x="-725" y="1466925"/>
            <a:chExt cx="939900" cy="2326875"/>
          </a:xfrm>
        </p:grpSpPr>
        <p:cxnSp>
          <p:nvCxnSpPr>
            <p:cNvPr id="214" name="Google Shape;214;p32"/>
            <p:cNvCxnSpPr/>
            <p:nvPr/>
          </p:nvCxnSpPr>
          <p:spPr>
            <a:xfrm>
              <a:off x="-725" y="1466925"/>
              <a:ext cx="939900" cy="0"/>
            </a:xfrm>
            <a:prstGeom prst="straightConnector1">
              <a:avLst/>
            </a:prstGeom>
            <a:noFill/>
            <a:ln w="19050" cap="flat" cmpd="sng">
              <a:solidFill>
                <a:schemeClr val="dk1"/>
              </a:solidFill>
              <a:prstDash val="solid"/>
              <a:round/>
              <a:headEnd type="none" w="med" len="med"/>
              <a:tailEnd type="none" w="med" len="med"/>
            </a:ln>
          </p:spPr>
        </p:cxnSp>
        <p:cxnSp>
          <p:nvCxnSpPr>
            <p:cNvPr id="215" name="Google Shape;215;p32"/>
            <p:cNvCxnSpPr/>
            <p:nvPr/>
          </p:nvCxnSpPr>
          <p:spPr>
            <a:xfrm>
              <a:off x="-725" y="2668450"/>
              <a:ext cx="939900" cy="0"/>
            </a:xfrm>
            <a:prstGeom prst="straightConnector1">
              <a:avLst/>
            </a:prstGeom>
            <a:noFill/>
            <a:ln w="19050" cap="flat" cmpd="sng">
              <a:solidFill>
                <a:schemeClr val="dk1"/>
              </a:solidFill>
              <a:prstDash val="solid"/>
              <a:round/>
              <a:headEnd type="none" w="med" len="med"/>
              <a:tailEnd type="none" w="med" len="med"/>
            </a:ln>
          </p:spPr>
        </p:cxnSp>
        <p:cxnSp>
          <p:nvCxnSpPr>
            <p:cNvPr id="216" name="Google Shape;216;p32"/>
            <p:cNvCxnSpPr/>
            <p:nvPr/>
          </p:nvCxnSpPr>
          <p:spPr>
            <a:xfrm>
              <a:off x="-725" y="3793800"/>
              <a:ext cx="939900" cy="0"/>
            </a:xfrm>
            <a:prstGeom prst="straightConnector1">
              <a:avLst/>
            </a:prstGeom>
            <a:noFill/>
            <a:ln w="19050" cap="flat" cmpd="sng">
              <a:solidFill>
                <a:schemeClr val="dk1"/>
              </a:solidFill>
              <a:prstDash val="solid"/>
              <a:round/>
              <a:headEnd type="none" w="med" len="med"/>
              <a:tailEnd type="none" w="med" len="med"/>
            </a:ln>
          </p:spPr>
        </p:cxnSp>
      </p:grpSp>
      <p:grpSp>
        <p:nvGrpSpPr>
          <p:cNvPr id="217" name="Google Shape;217;p32"/>
          <p:cNvGrpSpPr/>
          <p:nvPr/>
        </p:nvGrpSpPr>
        <p:grpSpPr>
          <a:xfrm>
            <a:off x="232200" y="232800"/>
            <a:ext cx="8988300" cy="5000100"/>
            <a:chOff x="232200" y="232800"/>
            <a:chExt cx="8988300" cy="5000100"/>
          </a:xfrm>
        </p:grpSpPr>
        <p:sp>
          <p:nvSpPr>
            <p:cNvPr id="218" name="Google Shape;218;p32"/>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9" name="Google Shape;219;p32"/>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220" name="Google Shape;220;p32"/>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221" name="Google Shape;221;p32"/>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2" name="Google Shape;222;p32"/>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223" name="Google Shape;223;p32"/>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224" name="Google Shape;224;p32"/>
          <p:cNvSpPr txBox="1">
            <a:spLocks noGrp="1"/>
          </p:cNvSpPr>
          <p:nvPr>
            <p:ph type="subTitle" idx="3"/>
          </p:nvPr>
        </p:nvSpPr>
        <p:spPr>
          <a:xfrm>
            <a:off x="1731050" y="3957450"/>
            <a:ext cx="6613200" cy="527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225" name="Google Shape;225;p32"/>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6" name="Google Shape;226;p32"/>
          <p:cNvSpPr txBox="1">
            <a:spLocks noGrp="1"/>
          </p:cNvSpPr>
          <p:nvPr>
            <p:ph type="subTitle" idx="5"/>
          </p:nvPr>
        </p:nvSpPr>
        <p:spPr>
          <a:xfrm>
            <a:off x="1731050" y="2395400"/>
            <a:ext cx="6613200" cy="527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27" name="Google Shape;227;p32"/>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228"/>
        <p:cNvGrpSpPr/>
        <p:nvPr/>
      </p:nvGrpSpPr>
      <p:grpSpPr>
        <a:xfrm>
          <a:off x="0" y="0"/>
          <a:ext cx="0" cy="0"/>
          <a:chOff x="0" y="0"/>
          <a:chExt cx="0" cy="0"/>
        </a:xfrm>
      </p:grpSpPr>
      <p:sp>
        <p:nvSpPr>
          <p:cNvPr id="229" name="Google Shape;229;p33"/>
          <p:cNvSpPr/>
          <p:nvPr/>
        </p:nvSpPr>
        <p:spPr>
          <a:xfrm>
            <a:off x="8240650" y="-926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 name="Google Shape;230;p33"/>
          <p:cNvGrpSpPr/>
          <p:nvPr/>
        </p:nvGrpSpPr>
        <p:grpSpPr>
          <a:xfrm>
            <a:off x="232200" y="-60100"/>
            <a:ext cx="9070200" cy="4977400"/>
            <a:chOff x="232200" y="-60100"/>
            <a:chExt cx="9070200" cy="4977400"/>
          </a:xfrm>
        </p:grpSpPr>
        <p:sp>
          <p:nvSpPr>
            <p:cNvPr id="231" name="Google Shape;231;p3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2" name="Google Shape;232;p33"/>
            <p:cNvCxnSpPr/>
            <p:nvPr/>
          </p:nvCxnSpPr>
          <p:spPr>
            <a:xfrm rot="10800000">
              <a:off x="232200" y="-60100"/>
              <a:ext cx="0" cy="296700"/>
            </a:xfrm>
            <a:prstGeom prst="straightConnector1">
              <a:avLst/>
            </a:prstGeom>
            <a:noFill/>
            <a:ln w="19050" cap="flat" cmpd="sng">
              <a:solidFill>
                <a:schemeClr val="dk1"/>
              </a:solidFill>
              <a:prstDash val="solid"/>
              <a:round/>
              <a:headEnd type="none" w="med" len="med"/>
              <a:tailEnd type="none" w="med" len="med"/>
            </a:ln>
          </p:spPr>
        </p:cxnSp>
        <p:cxnSp>
          <p:nvCxnSpPr>
            <p:cNvPr id="233" name="Google Shape;233;p33"/>
            <p:cNvCxnSpPr/>
            <p:nvPr/>
          </p:nvCxnSpPr>
          <p:spPr>
            <a:xfrm>
              <a:off x="8904900" y="4917300"/>
              <a:ext cx="397500" cy="0"/>
            </a:xfrm>
            <a:prstGeom prst="straightConnector1">
              <a:avLst/>
            </a:prstGeom>
            <a:noFill/>
            <a:ln w="19050" cap="flat" cmpd="sng">
              <a:solidFill>
                <a:schemeClr val="dk1"/>
              </a:solidFill>
              <a:prstDash val="solid"/>
              <a:round/>
              <a:headEnd type="none" w="med" len="med"/>
              <a:tailEnd type="none" w="med" len="med"/>
            </a:ln>
          </p:spPr>
        </p:cxnSp>
      </p:grpSp>
      <p:sp>
        <p:nvSpPr>
          <p:cNvPr id="234" name="Google Shape;234;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5" name="Google Shape;235;p33"/>
          <p:cNvSpPr txBox="1">
            <a:spLocks noGrp="1"/>
          </p:cNvSpPr>
          <p:nvPr>
            <p:ph type="subTitle" idx="1"/>
          </p:nvPr>
        </p:nvSpPr>
        <p:spPr>
          <a:xfrm>
            <a:off x="2032350" y="1565625"/>
            <a:ext cx="4876800" cy="527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236" name="Google Shape;236;p33"/>
          <p:cNvSpPr txBox="1">
            <a:spLocks noGrp="1"/>
          </p:cNvSpPr>
          <p:nvPr>
            <p:ph type="subTitle" idx="2"/>
          </p:nvPr>
        </p:nvSpPr>
        <p:spPr>
          <a:xfrm>
            <a:off x="2641957" y="2723563"/>
            <a:ext cx="4876800" cy="527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237" name="Google Shape;237;p33"/>
          <p:cNvSpPr txBox="1">
            <a:spLocks noGrp="1"/>
          </p:cNvSpPr>
          <p:nvPr>
            <p:ph type="subTitle" idx="3"/>
          </p:nvPr>
        </p:nvSpPr>
        <p:spPr>
          <a:xfrm>
            <a:off x="3251557" y="3881500"/>
            <a:ext cx="4876800" cy="5277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238" name="Google Shape;238;p33"/>
          <p:cNvSpPr txBox="1">
            <a:spLocks noGrp="1"/>
          </p:cNvSpPr>
          <p:nvPr>
            <p:ph type="subTitle" idx="4"/>
          </p:nvPr>
        </p:nvSpPr>
        <p:spPr>
          <a:xfrm>
            <a:off x="2032350" y="1253625"/>
            <a:ext cx="4876800" cy="427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239" name="Google Shape;239;p33"/>
          <p:cNvSpPr txBox="1">
            <a:spLocks noGrp="1"/>
          </p:cNvSpPr>
          <p:nvPr>
            <p:ph type="subTitle" idx="5"/>
          </p:nvPr>
        </p:nvSpPr>
        <p:spPr>
          <a:xfrm>
            <a:off x="2641950" y="2412275"/>
            <a:ext cx="4876800" cy="427500"/>
          </a:xfrm>
          <a:prstGeom prst="rect">
            <a:avLst/>
          </a:prstGeom>
        </p:spPr>
        <p:txBody>
          <a:bodyPr spcFirstLastPara="1" wrap="square" lIns="91425" tIns="91425" rIns="91425" bIns="91425" anchor="b" anchorCtr="0">
            <a:noAutofit/>
          </a:bodyPr>
          <a:lstStyle>
            <a:lvl1pPr lvl="0">
              <a:spcBef>
                <a:spcPts val="0"/>
              </a:spcBef>
              <a:spcAft>
                <a:spcPts val="0"/>
              </a:spcAft>
              <a:buSzPts val="26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240" name="Google Shape;240;p33"/>
          <p:cNvSpPr txBox="1">
            <a:spLocks noGrp="1"/>
          </p:cNvSpPr>
          <p:nvPr>
            <p:ph type="subTitle" idx="6"/>
          </p:nvPr>
        </p:nvSpPr>
        <p:spPr>
          <a:xfrm>
            <a:off x="3251550" y="3570925"/>
            <a:ext cx="4876800" cy="427500"/>
          </a:xfrm>
          <a:prstGeom prst="rect">
            <a:avLst/>
          </a:prstGeom>
        </p:spPr>
        <p:txBody>
          <a:bodyPr spcFirstLastPara="1" wrap="square" lIns="91425" tIns="91425" rIns="91425" bIns="91425" anchor="b" anchorCtr="0">
            <a:noAutofit/>
          </a:bodyPr>
          <a:lstStyle>
            <a:lvl1pPr lvl="0">
              <a:spcBef>
                <a:spcPts val="0"/>
              </a:spcBef>
              <a:spcAft>
                <a:spcPts val="0"/>
              </a:spcAft>
              <a:buSzPts val="26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41"/>
        <p:cNvGrpSpPr/>
        <p:nvPr/>
      </p:nvGrpSpPr>
      <p:grpSpPr>
        <a:xfrm>
          <a:off x="0" y="0"/>
          <a:ext cx="0" cy="0"/>
          <a:chOff x="0" y="0"/>
          <a:chExt cx="0" cy="0"/>
        </a:xfrm>
      </p:grpSpPr>
      <p:sp>
        <p:nvSpPr>
          <p:cNvPr id="242" name="Google Shape;242;p34"/>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 name="Google Shape;243;p34"/>
          <p:cNvGrpSpPr/>
          <p:nvPr/>
        </p:nvGrpSpPr>
        <p:grpSpPr>
          <a:xfrm>
            <a:off x="-19050" y="232800"/>
            <a:ext cx="9189150" cy="4684500"/>
            <a:chOff x="-19050" y="232800"/>
            <a:chExt cx="9189150" cy="4684500"/>
          </a:xfrm>
        </p:grpSpPr>
        <p:sp>
          <p:nvSpPr>
            <p:cNvPr id="244" name="Google Shape;244;p3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5" name="Google Shape;245;p34"/>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246" name="Google Shape;246;p34"/>
            <p:cNvCxnSpPr/>
            <p:nvPr/>
          </p:nvCxnSpPr>
          <p:spPr>
            <a:xfrm rot="10800000">
              <a:off x="8911200" y="49173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247" name="Google Shape;247;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8" name="Google Shape;248;p34"/>
          <p:cNvSpPr txBox="1">
            <a:spLocks noGrp="1"/>
          </p:cNvSpPr>
          <p:nvPr>
            <p:ph type="subTitle" idx="1"/>
          </p:nvPr>
        </p:nvSpPr>
        <p:spPr>
          <a:xfrm>
            <a:off x="1762571" y="1752725"/>
            <a:ext cx="2687400" cy="9111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49" name="Google Shape;249;p34"/>
          <p:cNvSpPr txBox="1">
            <a:spLocks noGrp="1"/>
          </p:cNvSpPr>
          <p:nvPr>
            <p:ph type="subTitle" idx="2"/>
          </p:nvPr>
        </p:nvSpPr>
        <p:spPr>
          <a:xfrm>
            <a:off x="5132667" y="1752725"/>
            <a:ext cx="2687400" cy="9111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50" name="Google Shape;250;p34"/>
          <p:cNvSpPr txBox="1">
            <a:spLocks noGrp="1"/>
          </p:cNvSpPr>
          <p:nvPr>
            <p:ph type="subTitle" idx="3"/>
          </p:nvPr>
        </p:nvSpPr>
        <p:spPr>
          <a:xfrm>
            <a:off x="1762571" y="3336725"/>
            <a:ext cx="2687400" cy="9111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51" name="Google Shape;251;p34"/>
          <p:cNvSpPr txBox="1">
            <a:spLocks noGrp="1"/>
          </p:cNvSpPr>
          <p:nvPr>
            <p:ph type="subTitle" idx="4"/>
          </p:nvPr>
        </p:nvSpPr>
        <p:spPr>
          <a:xfrm>
            <a:off x="5132667" y="3336725"/>
            <a:ext cx="2687400" cy="9111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52" name="Google Shape;252;p34"/>
          <p:cNvSpPr txBox="1">
            <a:spLocks noGrp="1"/>
          </p:cNvSpPr>
          <p:nvPr>
            <p:ph type="subTitle" idx="5"/>
          </p:nvPr>
        </p:nvSpPr>
        <p:spPr>
          <a:xfrm>
            <a:off x="1762571" y="1524200"/>
            <a:ext cx="2687400" cy="3549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53" name="Google Shape;253;p34"/>
          <p:cNvSpPr txBox="1">
            <a:spLocks noGrp="1"/>
          </p:cNvSpPr>
          <p:nvPr>
            <p:ph type="subTitle" idx="6"/>
          </p:nvPr>
        </p:nvSpPr>
        <p:spPr>
          <a:xfrm>
            <a:off x="5132667" y="1524200"/>
            <a:ext cx="2687400" cy="3549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54" name="Google Shape;254;p34"/>
          <p:cNvSpPr txBox="1">
            <a:spLocks noGrp="1"/>
          </p:cNvSpPr>
          <p:nvPr>
            <p:ph type="subTitle" idx="7"/>
          </p:nvPr>
        </p:nvSpPr>
        <p:spPr>
          <a:xfrm>
            <a:off x="1762571" y="3091838"/>
            <a:ext cx="2687400" cy="3549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55" name="Google Shape;255;p34"/>
          <p:cNvSpPr txBox="1">
            <a:spLocks noGrp="1"/>
          </p:cNvSpPr>
          <p:nvPr>
            <p:ph type="subTitle" idx="8"/>
          </p:nvPr>
        </p:nvSpPr>
        <p:spPr>
          <a:xfrm>
            <a:off x="5132667" y="3091838"/>
            <a:ext cx="2687400" cy="3549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256"/>
        <p:cNvGrpSpPr/>
        <p:nvPr/>
      </p:nvGrpSpPr>
      <p:grpSpPr>
        <a:xfrm>
          <a:off x="0" y="0"/>
          <a:ext cx="0" cy="0"/>
          <a:chOff x="0" y="0"/>
          <a:chExt cx="0" cy="0"/>
        </a:xfrm>
      </p:grpSpPr>
      <p:sp>
        <p:nvSpPr>
          <p:cNvPr id="257" name="Google Shape;257;p35"/>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 name="Google Shape;258;p35"/>
          <p:cNvGrpSpPr/>
          <p:nvPr/>
        </p:nvGrpSpPr>
        <p:grpSpPr>
          <a:xfrm>
            <a:off x="232200" y="232800"/>
            <a:ext cx="8988300" cy="5000100"/>
            <a:chOff x="232200" y="232800"/>
            <a:chExt cx="8988300" cy="5000100"/>
          </a:xfrm>
        </p:grpSpPr>
        <p:sp>
          <p:nvSpPr>
            <p:cNvPr id="259" name="Google Shape;259;p3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0" name="Google Shape;260;p35"/>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261" name="Google Shape;261;p35"/>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262" name="Google Shape;262;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3" name="Google Shape;263;p35"/>
          <p:cNvSpPr txBox="1">
            <a:spLocks noGrp="1"/>
          </p:cNvSpPr>
          <p:nvPr>
            <p:ph type="subTitle" idx="1"/>
          </p:nvPr>
        </p:nvSpPr>
        <p:spPr>
          <a:xfrm>
            <a:off x="874134" y="2145979"/>
            <a:ext cx="2199600" cy="6354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64" name="Google Shape;264;p35"/>
          <p:cNvSpPr txBox="1">
            <a:spLocks noGrp="1"/>
          </p:cNvSpPr>
          <p:nvPr>
            <p:ph type="subTitle" idx="2"/>
          </p:nvPr>
        </p:nvSpPr>
        <p:spPr>
          <a:xfrm>
            <a:off x="3319800" y="2145979"/>
            <a:ext cx="2199600" cy="6354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65" name="Google Shape;265;p35"/>
          <p:cNvSpPr txBox="1">
            <a:spLocks noGrp="1"/>
          </p:cNvSpPr>
          <p:nvPr>
            <p:ph type="subTitle" idx="3"/>
          </p:nvPr>
        </p:nvSpPr>
        <p:spPr>
          <a:xfrm>
            <a:off x="874134" y="3635775"/>
            <a:ext cx="2199600" cy="6354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66" name="Google Shape;266;p35"/>
          <p:cNvSpPr txBox="1">
            <a:spLocks noGrp="1"/>
          </p:cNvSpPr>
          <p:nvPr>
            <p:ph type="subTitle" idx="4"/>
          </p:nvPr>
        </p:nvSpPr>
        <p:spPr>
          <a:xfrm>
            <a:off x="3319800" y="3635775"/>
            <a:ext cx="2199600" cy="6354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67" name="Google Shape;267;p35"/>
          <p:cNvSpPr txBox="1">
            <a:spLocks noGrp="1"/>
          </p:cNvSpPr>
          <p:nvPr>
            <p:ph type="subTitle" idx="5"/>
          </p:nvPr>
        </p:nvSpPr>
        <p:spPr>
          <a:xfrm>
            <a:off x="5765466" y="2145979"/>
            <a:ext cx="2199600" cy="6354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68" name="Google Shape;268;p35"/>
          <p:cNvSpPr txBox="1">
            <a:spLocks noGrp="1"/>
          </p:cNvSpPr>
          <p:nvPr>
            <p:ph type="subTitle" idx="6"/>
          </p:nvPr>
        </p:nvSpPr>
        <p:spPr>
          <a:xfrm>
            <a:off x="5765466" y="3635775"/>
            <a:ext cx="2199600" cy="6354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69" name="Google Shape;269;p35"/>
          <p:cNvSpPr txBox="1">
            <a:spLocks noGrp="1"/>
          </p:cNvSpPr>
          <p:nvPr>
            <p:ph type="subTitle" idx="7"/>
          </p:nvPr>
        </p:nvSpPr>
        <p:spPr>
          <a:xfrm>
            <a:off x="872334" y="1769325"/>
            <a:ext cx="22032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70" name="Google Shape;270;p35"/>
          <p:cNvSpPr txBox="1">
            <a:spLocks noGrp="1"/>
          </p:cNvSpPr>
          <p:nvPr>
            <p:ph type="subTitle" idx="8"/>
          </p:nvPr>
        </p:nvSpPr>
        <p:spPr>
          <a:xfrm>
            <a:off x="3318000" y="1769325"/>
            <a:ext cx="22032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71" name="Google Shape;271;p35"/>
          <p:cNvSpPr txBox="1">
            <a:spLocks noGrp="1"/>
          </p:cNvSpPr>
          <p:nvPr>
            <p:ph type="subTitle" idx="9"/>
          </p:nvPr>
        </p:nvSpPr>
        <p:spPr>
          <a:xfrm>
            <a:off x="5763666" y="1769325"/>
            <a:ext cx="22032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72" name="Google Shape;272;p35"/>
          <p:cNvSpPr txBox="1">
            <a:spLocks noGrp="1"/>
          </p:cNvSpPr>
          <p:nvPr>
            <p:ph type="subTitle" idx="13"/>
          </p:nvPr>
        </p:nvSpPr>
        <p:spPr>
          <a:xfrm>
            <a:off x="872334" y="3258926"/>
            <a:ext cx="22032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73" name="Google Shape;273;p35"/>
          <p:cNvSpPr txBox="1">
            <a:spLocks noGrp="1"/>
          </p:cNvSpPr>
          <p:nvPr>
            <p:ph type="subTitle" idx="14"/>
          </p:nvPr>
        </p:nvSpPr>
        <p:spPr>
          <a:xfrm>
            <a:off x="3318000" y="3258926"/>
            <a:ext cx="22032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74" name="Google Shape;274;p35"/>
          <p:cNvSpPr txBox="1">
            <a:spLocks noGrp="1"/>
          </p:cNvSpPr>
          <p:nvPr>
            <p:ph type="subTitle" idx="15"/>
          </p:nvPr>
        </p:nvSpPr>
        <p:spPr>
          <a:xfrm>
            <a:off x="5763666" y="3258926"/>
            <a:ext cx="22032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275"/>
        <p:cNvGrpSpPr/>
        <p:nvPr/>
      </p:nvGrpSpPr>
      <p:grpSpPr>
        <a:xfrm>
          <a:off x="0" y="0"/>
          <a:ext cx="0" cy="0"/>
          <a:chOff x="0" y="0"/>
          <a:chExt cx="0" cy="0"/>
        </a:xfrm>
      </p:grpSpPr>
      <p:sp>
        <p:nvSpPr>
          <p:cNvPr id="276" name="Google Shape;276;p36"/>
          <p:cNvSpPr/>
          <p:nvPr/>
        </p:nvSpPr>
        <p:spPr>
          <a:xfrm>
            <a:off x="6309175" y="2486975"/>
            <a:ext cx="4243200" cy="4243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7" name="Google Shape;277;p36"/>
          <p:cNvGrpSpPr/>
          <p:nvPr/>
        </p:nvGrpSpPr>
        <p:grpSpPr>
          <a:xfrm>
            <a:off x="-69525" y="539500"/>
            <a:ext cx="9455500" cy="4069200"/>
            <a:chOff x="-69525" y="539500"/>
            <a:chExt cx="9455500" cy="4069200"/>
          </a:xfrm>
        </p:grpSpPr>
        <p:grpSp>
          <p:nvGrpSpPr>
            <p:cNvPr id="278" name="Google Shape;278;p36"/>
            <p:cNvGrpSpPr/>
            <p:nvPr/>
          </p:nvGrpSpPr>
          <p:grpSpPr>
            <a:xfrm>
              <a:off x="713225" y="539500"/>
              <a:ext cx="8672750" cy="4069200"/>
              <a:chOff x="713225" y="539500"/>
              <a:chExt cx="8672750" cy="4069200"/>
            </a:xfrm>
          </p:grpSpPr>
          <p:sp>
            <p:nvSpPr>
              <p:cNvPr id="279" name="Google Shape;279;p36"/>
              <p:cNvSpPr/>
              <p:nvPr/>
            </p:nvSpPr>
            <p:spPr>
              <a:xfrm>
                <a:off x="713225" y="539500"/>
                <a:ext cx="7717500" cy="4069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0" name="Google Shape;280;p36"/>
              <p:cNvCxnSpPr/>
              <p:nvPr/>
            </p:nvCxnSpPr>
            <p:spPr>
              <a:xfrm>
                <a:off x="8407675" y="4608575"/>
                <a:ext cx="978300" cy="0"/>
              </a:xfrm>
              <a:prstGeom prst="straightConnector1">
                <a:avLst/>
              </a:prstGeom>
              <a:noFill/>
              <a:ln w="19050" cap="flat" cmpd="sng">
                <a:solidFill>
                  <a:schemeClr val="dk1"/>
                </a:solidFill>
                <a:prstDash val="solid"/>
                <a:round/>
                <a:headEnd type="none" w="med" len="med"/>
                <a:tailEnd type="none" w="med" len="med"/>
              </a:ln>
            </p:spPr>
          </p:cxnSp>
        </p:grpSp>
        <p:cxnSp>
          <p:nvCxnSpPr>
            <p:cNvPr id="281" name="Google Shape;281;p36"/>
            <p:cNvCxnSpPr/>
            <p:nvPr/>
          </p:nvCxnSpPr>
          <p:spPr>
            <a:xfrm rot="10800000">
              <a:off x="-69525" y="539500"/>
              <a:ext cx="789000" cy="0"/>
            </a:xfrm>
            <a:prstGeom prst="straightConnector1">
              <a:avLst/>
            </a:prstGeom>
            <a:noFill/>
            <a:ln w="19050" cap="flat" cmpd="sng">
              <a:solidFill>
                <a:schemeClr val="dk1"/>
              </a:solidFill>
              <a:prstDash val="solid"/>
              <a:round/>
              <a:headEnd type="none" w="med" len="med"/>
              <a:tailEnd type="none" w="med" len="med"/>
            </a:ln>
          </p:spPr>
        </p:cxnSp>
      </p:grpSp>
      <p:sp>
        <p:nvSpPr>
          <p:cNvPr id="282" name="Google Shape;282;p36"/>
          <p:cNvSpPr txBox="1">
            <a:spLocks noGrp="1"/>
          </p:cNvSpPr>
          <p:nvPr>
            <p:ph type="title" hasCustomPrompt="1"/>
          </p:nvPr>
        </p:nvSpPr>
        <p:spPr>
          <a:xfrm>
            <a:off x="707575" y="539500"/>
            <a:ext cx="4051200" cy="768900"/>
          </a:xfrm>
          <a:prstGeom prst="rect">
            <a:avLst/>
          </a:prstGeom>
          <a:solidFill>
            <a:schemeClr val="dk1"/>
          </a:solidFill>
        </p:spPr>
        <p:txBody>
          <a:bodyPr spcFirstLastPara="1" wrap="square" lIns="91425" tIns="91425" rIns="91425" bIns="91425" anchor="ctr" anchorCtr="0">
            <a:noAutofit/>
          </a:bodyPr>
          <a:lstStyle>
            <a:lvl1pPr lvl="0">
              <a:lnSpc>
                <a:spcPct val="115000"/>
              </a:lnSpc>
              <a:spcBef>
                <a:spcPts val="0"/>
              </a:spcBef>
              <a:spcAft>
                <a:spcPts val="0"/>
              </a:spcAft>
              <a:buClr>
                <a:schemeClr val="lt1"/>
              </a:buClr>
              <a:buSzPts val="6000"/>
              <a:buNone/>
              <a:defRPr sz="37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83" name="Google Shape;283;p36"/>
          <p:cNvSpPr txBox="1">
            <a:spLocks noGrp="1"/>
          </p:cNvSpPr>
          <p:nvPr>
            <p:ph type="subTitle" idx="1"/>
          </p:nvPr>
        </p:nvSpPr>
        <p:spPr>
          <a:xfrm>
            <a:off x="707575" y="1308392"/>
            <a:ext cx="4051200" cy="410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284" name="Google Shape;284;p36"/>
          <p:cNvSpPr txBox="1">
            <a:spLocks noGrp="1"/>
          </p:cNvSpPr>
          <p:nvPr>
            <p:ph type="title" idx="2" hasCustomPrompt="1"/>
          </p:nvPr>
        </p:nvSpPr>
        <p:spPr>
          <a:xfrm>
            <a:off x="707575" y="1901349"/>
            <a:ext cx="4051200" cy="768900"/>
          </a:xfrm>
          <a:prstGeom prst="rect">
            <a:avLst/>
          </a:prstGeom>
          <a:solidFill>
            <a:schemeClr val="dk1"/>
          </a:solidFill>
        </p:spPr>
        <p:txBody>
          <a:bodyPr spcFirstLastPara="1" wrap="square" lIns="91425" tIns="91425" rIns="91425" bIns="91425" anchor="ctr" anchorCtr="0">
            <a:noAutofit/>
          </a:bodyPr>
          <a:lstStyle>
            <a:lvl1pPr lvl="0">
              <a:lnSpc>
                <a:spcPct val="115000"/>
              </a:lnSpc>
              <a:spcBef>
                <a:spcPts val="0"/>
              </a:spcBef>
              <a:spcAft>
                <a:spcPts val="0"/>
              </a:spcAft>
              <a:buClr>
                <a:schemeClr val="lt1"/>
              </a:buClr>
              <a:buSzPts val="6000"/>
              <a:buNone/>
              <a:defRPr sz="37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85" name="Google Shape;285;p36"/>
          <p:cNvSpPr txBox="1">
            <a:spLocks noGrp="1"/>
          </p:cNvSpPr>
          <p:nvPr>
            <p:ph type="subTitle" idx="3"/>
          </p:nvPr>
        </p:nvSpPr>
        <p:spPr>
          <a:xfrm>
            <a:off x="707575" y="2670245"/>
            <a:ext cx="4051200" cy="410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286" name="Google Shape;286;p36"/>
          <p:cNvSpPr txBox="1">
            <a:spLocks noGrp="1"/>
          </p:cNvSpPr>
          <p:nvPr>
            <p:ph type="title" idx="4" hasCustomPrompt="1"/>
          </p:nvPr>
        </p:nvSpPr>
        <p:spPr>
          <a:xfrm>
            <a:off x="707575" y="3263198"/>
            <a:ext cx="4051200" cy="768900"/>
          </a:xfrm>
          <a:prstGeom prst="rect">
            <a:avLst/>
          </a:prstGeom>
          <a:solidFill>
            <a:schemeClr val="dk1"/>
          </a:solidFill>
        </p:spPr>
        <p:txBody>
          <a:bodyPr spcFirstLastPara="1" wrap="square" lIns="91425" tIns="91425" rIns="91425" bIns="91425" anchor="ctr" anchorCtr="0">
            <a:noAutofit/>
          </a:bodyPr>
          <a:lstStyle>
            <a:lvl1pPr lvl="0">
              <a:lnSpc>
                <a:spcPct val="115000"/>
              </a:lnSpc>
              <a:spcBef>
                <a:spcPts val="0"/>
              </a:spcBef>
              <a:spcAft>
                <a:spcPts val="0"/>
              </a:spcAft>
              <a:buClr>
                <a:schemeClr val="lt1"/>
              </a:buClr>
              <a:buSzPts val="6000"/>
              <a:buNone/>
              <a:defRPr sz="37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87" name="Google Shape;287;p36"/>
          <p:cNvSpPr txBox="1">
            <a:spLocks noGrp="1"/>
          </p:cNvSpPr>
          <p:nvPr>
            <p:ph type="subTitle" idx="5"/>
          </p:nvPr>
        </p:nvSpPr>
        <p:spPr>
          <a:xfrm>
            <a:off x="707575" y="4032098"/>
            <a:ext cx="4051200" cy="410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288"/>
        <p:cNvGrpSpPr/>
        <p:nvPr/>
      </p:nvGrpSpPr>
      <p:grpSpPr>
        <a:xfrm>
          <a:off x="0" y="0"/>
          <a:ext cx="0" cy="0"/>
          <a:chOff x="0" y="0"/>
          <a:chExt cx="0" cy="0"/>
        </a:xfrm>
      </p:grpSpPr>
      <p:sp>
        <p:nvSpPr>
          <p:cNvPr id="289" name="Google Shape;289;p37"/>
          <p:cNvSpPr/>
          <p:nvPr/>
        </p:nvSpPr>
        <p:spPr>
          <a:xfrm>
            <a:off x="8240650" y="-926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0" name="Google Shape;290;p37"/>
          <p:cNvGrpSpPr/>
          <p:nvPr/>
        </p:nvGrpSpPr>
        <p:grpSpPr>
          <a:xfrm>
            <a:off x="-19050" y="232800"/>
            <a:ext cx="9189150" cy="4684500"/>
            <a:chOff x="-19050" y="232800"/>
            <a:chExt cx="9189150" cy="4684500"/>
          </a:xfrm>
        </p:grpSpPr>
        <p:sp>
          <p:nvSpPr>
            <p:cNvPr id="291" name="Google Shape;291;p37"/>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2" name="Google Shape;292;p37"/>
            <p:cNvCxnSpPr/>
            <p:nvPr/>
          </p:nvCxnSpPr>
          <p:spPr>
            <a:xfrm rot="10800000">
              <a:off x="-19050" y="49173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293" name="Google Shape;293;p37"/>
            <p:cNvCxnSpPr/>
            <p:nvPr/>
          </p:nvCxnSpPr>
          <p:spPr>
            <a:xfrm rot="10800000">
              <a:off x="8911200" y="2328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294" name="Google Shape;294;p37"/>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atin typeface="Lato"/>
                <a:ea typeface="Lato"/>
                <a:cs typeface="Lato"/>
                <a:sym typeface="Lato"/>
              </a:defRPr>
            </a:lvl2pPr>
            <a:lvl3pPr lvl="2">
              <a:spcBef>
                <a:spcPts val="0"/>
              </a:spcBef>
              <a:spcAft>
                <a:spcPts val="0"/>
              </a:spcAft>
              <a:buSzPts val="3000"/>
              <a:buNone/>
              <a:defRPr>
                <a:latin typeface="Lato"/>
                <a:ea typeface="Lato"/>
                <a:cs typeface="Lato"/>
                <a:sym typeface="Lato"/>
              </a:defRPr>
            </a:lvl3pPr>
            <a:lvl4pPr lvl="3">
              <a:spcBef>
                <a:spcPts val="0"/>
              </a:spcBef>
              <a:spcAft>
                <a:spcPts val="0"/>
              </a:spcAft>
              <a:buSzPts val="3000"/>
              <a:buNone/>
              <a:defRPr>
                <a:latin typeface="Lato"/>
                <a:ea typeface="Lato"/>
                <a:cs typeface="Lato"/>
                <a:sym typeface="Lato"/>
              </a:defRPr>
            </a:lvl4pPr>
            <a:lvl5pPr lvl="4">
              <a:spcBef>
                <a:spcPts val="0"/>
              </a:spcBef>
              <a:spcAft>
                <a:spcPts val="0"/>
              </a:spcAft>
              <a:buSzPts val="3000"/>
              <a:buNone/>
              <a:defRPr>
                <a:latin typeface="Lato"/>
                <a:ea typeface="Lato"/>
                <a:cs typeface="Lato"/>
                <a:sym typeface="Lato"/>
              </a:defRPr>
            </a:lvl5pPr>
            <a:lvl6pPr lvl="5">
              <a:spcBef>
                <a:spcPts val="0"/>
              </a:spcBef>
              <a:spcAft>
                <a:spcPts val="0"/>
              </a:spcAft>
              <a:buSzPts val="3000"/>
              <a:buNone/>
              <a:defRPr>
                <a:latin typeface="Lato"/>
                <a:ea typeface="Lato"/>
                <a:cs typeface="Lato"/>
                <a:sym typeface="Lato"/>
              </a:defRPr>
            </a:lvl6pPr>
            <a:lvl7pPr lvl="6">
              <a:spcBef>
                <a:spcPts val="0"/>
              </a:spcBef>
              <a:spcAft>
                <a:spcPts val="0"/>
              </a:spcAft>
              <a:buSzPts val="3000"/>
              <a:buNone/>
              <a:defRPr>
                <a:latin typeface="Lato"/>
                <a:ea typeface="Lato"/>
                <a:cs typeface="Lato"/>
                <a:sym typeface="Lato"/>
              </a:defRPr>
            </a:lvl7pPr>
            <a:lvl8pPr lvl="7">
              <a:spcBef>
                <a:spcPts val="0"/>
              </a:spcBef>
              <a:spcAft>
                <a:spcPts val="0"/>
              </a:spcAft>
              <a:buSzPts val="3000"/>
              <a:buNone/>
              <a:defRPr>
                <a:latin typeface="Lato"/>
                <a:ea typeface="Lato"/>
                <a:cs typeface="Lato"/>
                <a:sym typeface="Lato"/>
              </a:defRPr>
            </a:lvl8pPr>
            <a:lvl9pPr lvl="8">
              <a:spcBef>
                <a:spcPts val="0"/>
              </a:spcBef>
              <a:spcAft>
                <a:spcPts val="0"/>
              </a:spcAft>
              <a:buSzPts val="3000"/>
              <a:buNone/>
              <a:defRPr>
                <a:latin typeface="Lato"/>
                <a:ea typeface="Lato"/>
                <a:cs typeface="Lato"/>
                <a:sym typeface="Lato"/>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2">
  <p:cSld name="CUSTOM_11_1">
    <p:spTree>
      <p:nvGrpSpPr>
        <p:cNvPr id="1" name="Shape 295"/>
        <p:cNvGrpSpPr/>
        <p:nvPr/>
      </p:nvGrpSpPr>
      <p:grpSpPr>
        <a:xfrm>
          <a:off x="0" y="0"/>
          <a:ext cx="0" cy="0"/>
          <a:chOff x="0" y="0"/>
          <a:chExt cx="0" cy="0"/>
        </a:xfrm>
      </p:grpSpPr>
      <p:sp>
        <p:nvSpPr>
          <p:cNvPr id="296" name="Google Shape;296;p38"/>
          <p:cNvSpPr/>
          <p:nvPr/>
        </p:nvSpPr>
        <p:spPr>
          <a:xfrm>
            <a:off x="-9243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7" name="Google Shape;297;p38"/>
          <p:cNvGrpSpPr/>
          <p:nvPr/>
        </p:nvGrpSpPr>
        <p:grpSpPr>
          <a:xfrm>
            <a:off x="232200" y="232800"/>
            <a:ext cx="8988300" cy="4964300"/>
            <a:chOff x="232200" y="232800"/>
            <a:chExt cx="8988300" cy="4964300"/>
          </a:xfrm>
        </p:grpSpPr>
        <p:sp>
          <p:nvSpPr>
            <p:cNvPr id="298" name="Google Shape;298;p3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9" name="Google Shape;299;p38"/>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300" name="Google Shape;300;p38"/>
            <p:cNvCxnSpPr/>
            <p:nvPr/>
          </p:nvCxnSpPr>
          <p:spPr>
            <a:xfrm rot="10800000">
              <a:off x="232200" y="4890500"/>
              <a:ext cx="0" cy="306600"/>
            </a:xfrm>
            <a:prstGeom prst="straightConnector1">
              <a:avLst/>
            </a:prstGeom>
            <a:noFill/>
            <a:ln w="19050" cap="flat" cmpd="sng">
              <a:solidFill>
                <a:schemeClr val="dk1"/>
              </a:solidFill>
              <a:prstDash val="solid"/>
              <a:round/>
              <a:headEnd type="none" w="med" len="med"/>
              <a:tailEnd type="none" w="med" len="med"/>
            </a:ln>
          </p:spPr>
        </p:cxnSp>
      </p:grpSp>
      <p:sp>
        <p:nvSpPr>
          <p:cNvPr id="301" name="Google Shape;301;p38"/>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atin typeface="Lato"/>
                <a:ea typeface="Lato"/>
                <a:cs typeface="Lato"/>
                <a:sym typeface="Lato"/>
              </a:defRPr>
            </a:lvl2pPr>
            <a:lvl3pPr lvl="2">
              <a:spcBef>
                <a:spcPts val="0"/>
              </a:spcBef>
              <a:spcAft>
                <a:spcPts val="0"/>
              </a:spcAft>
              <a:buSzPts val="3000"/>
              <a:buNone/>
              <a:defRPr>
                <a:latin typeface="Lato"/>
                <a:ea typeface="Lato"/>
                <a:cs typeface="Lato"/>
                <a:sym typeface="Lato"/>
              </a:defRPr>
            </a:lvl3pPr>
            <a:lvl4pPr lvl="3">
              <a:spcBef>
                <a:spcPts val="0"/>
              </a:spcBef>
              <a:spcAft>
                <a:spcPts val="0"/>
              </a:spcAft>
              <a:buSzPts val="3000"/>
              <a:buNone/>
              <a:defRPr>
                <a:latin typeface="Lato"/>
                <a:ea typeface="Lato"/>
                <a:cs typeface="Lato"/>
                <a:sym typeface="Lato"/>
              </a:defRPr>
            </a:lvl4pPr>
            <a:lvl5pPr lvl="4">
              <a:spcBef>
                <a:spcPts val="0"/>
              </a:spcBef>
              <a:spcAft>
                <a:spcPts val="0"/>
              </a:spcAft>
              <a:buSzPts val="3000"/>
              <a:buNone/>
              <a:defRPr>
                <a:latin typeface="Lato"/>
                <a:ea typeface="Lato"/>
                <a:cs typeface="Lato"/>
                <a:sym typeface="Lato"/>
              </a:defRPr>
            </a:lvl5pPr>
            <a:lvl6pPr lvl="5">
              <a:spcBef>
                <a:spcPts val="0"/>
              </a:spcBef>
              <a:spcAft>
                <a:spcPts val="0"/>
              </a:spcAft>
              <a:buSzPts val="3000"/>
              <a:buNone/>
              <a:defRPr>
                <a:latin typeface="Lato"/>
                <a:ea typeface="Lato"/>
                <a:cs typeface="Lato"/>
                <a:sym typeface="Lato"/>
              </a:defRPr>
            </a:lvl6pPr>
            <a:lvl7pPr lvl="6">
              <a:spcBef>
                <a:spcPts val="0"/>
              </a:spcBef>
              <a:spcAft>
                <a:spcPts val="0"/>
              </a:spcAft>
              <a:buSzPts val="3000"/>
              <a:buNone/>
              <a:defRPr>
                <a:latin typeface="Lato"/>
                <a:ea typeface="Lato"/>
                <a:cs typeface="Lato"/>
                <a:sym typeface="Lato"/>
              </a:defRPr>
            </a:lvl7pPr>
            <a:lvl8pPr lvl="7">
              <a:spcBef>
                <a:spcPts val="0"/>
              </a:spcBef>
              <a:spcAft>
                <a:spcPts val="0"/>
              </a:spcAft>
              <a:buSzPts val="3000"/>
              <a:buNone/>
              <a:defRPr>
                <a:latin typeface="Lato"/>
                <a:ea typeface="Lato"/>
                <a:cs typeface="Lato"/>
                <a:sym typeface="Lato"/>
              </a:defRPr>
            </a:lvl8pPr>
            <a:lvl9pPr lvl="8">
              <a:spcBef>
                <a:spcPts val="0"/>
              </a:spcBef>
              <a:spcAft>
                <a:spcPts val="0"/>
              </a:spcAft>
              <a:buSzPts val="3000"/>
              <a:buNone/>
              <a:defRPr>
                <a:latin typeface="Lato"/>
                <a:ea typeface="Lato"/>
                <a:cs typeface="Lato"/>
                <a:sym typeface="Lato"/>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02"/>
        <p:cNvGrpSpPr/>
        <p:nvPr/>
      </p:nvGrpSpPr>
      <p:grpSpPr>
        <a:xfrm>
          <a:off x="0" y="0"/>
          <a:ext cx="0" cy="0"/>
          <a:chOff x="0" y="0"/>
          <a:chExt cx="0" cy="0"/>
        </a:xfrm>
      </p:grpSpPr>
      <p:sp>
        <p:nvSpPr>
          <p:cNvPr id="303" name="Google Shape;303;p39"/>
          <p:cNvSpPr/>
          <p:nvPr/>
        </p:nvSpPr>
        <p:spPr>
          <a:xfrm>
            <a:off x="6677100" y="-9050"/>
            <a:ext cx="5161500" cy="51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 name="Google Shape;304;p39"/>
          <p:cNvGrpSpPr/>
          <p:nvPr/>
        </p:nvGrpSpPr>
        <p:grpSpPr>
          <a:xfrm>
            <a:off x="713223" y="-79050"/>
            <a:ext cx="8791100" cy="4687625"/>
            <a:chOff x="-669332" y="-79050"/>
            <a:chExt cx="10173707" cy="4687625"/>
          </a:xfrm>
        </p:grpSpPr>
        <p:sp>
          <p:nvSpPr>
            <p:cNvPr id="305" name="Google Shape;305;p39"/>
            <p:cNvSpPr/>
            <p:nvPr/>
          </p:nvSpPr>
          <p:spPr>
            <a:xfrm>
              <a:off x="-669325" y="533550"/>
              <a:ext cx="91002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6" name="Google Shape;306;p39"/>
            <p:cNvCxnSpPr/>
            <p:nvPr/>
          </p:nvCxnSpPr>
          <p:spPr>
            <a:xfrm rot="10800000">
              <a:off x="-669332" y="-79050"/>
              <a:ext cx="0" cy="624900"/>
            </a:xfrm>
            <a:prstGeom prst="straightConnector1">
              <a:avLst/>
            </a:prstGeom>
            <a:noFill/>
            <a:ln w="19050" cap="flat" cmpd="sng">
              <a:solidFill>
                <a:schemeClr val="dk1"/>
              </a:solidFill>
              <a:prstDash val="solid"/>
              <a:round/>
              <a:headEnd type="none" w="med" len="med"/>
              <a:tailEnd type="none" w="med" len="med"/>
            </a:ln>
          </p:spPr>
        </p:cxnSp>
        <p:cxnSp>
          <p:nvCxnSpPr>
            <p:cNvPr id="307" name="Google Shape;307;p39"/>
            <p:cNvCxnSpPr/>
            <p:nvPr/>
          </p:nvCxnSpPr>
          <p:spPr>
            <a:xfrm>
              <a:off x="8425275" y="4608575"/>
              <a:ext cx="1079100" cy="0"/>
            </a:xfrm>
            <a:prstGeom prst="straightConnector1">
              <a:avLst/>
            </a:prstGeom>
            <a:noFill/>
            <a:ln w="19050" cap="flat" cmpd="sng">
              <a:solidFill>
                <a:schemeClr val="dk1"/>
              </a:solidFill>
              <a:prstDash val="solid"/>
              <a:round/>
              <a:headEnd type="none" w="med" len="med"/>
              <a:tailEnd type="none" w="med" len="med"/>
            </a:ln>
          </p:spPr>
        </p:cxnSp>
      </p:grpSp>
      <p:sp>
        <p:nvSpPr>
          <p:cNvPr id="308" name="Google Shape;308;p39"/>
          <p:cNvSpPr txBox="1">
            <a:spLocks noGrp="1"/>
          </p:cNvSpPr>
          <p:nvPr>
            <p:ph type="title"/>
          </p:nvPr>
        </p:nvSpPr>
        <p:spPr>
          <a:xfrm>
            <a:off x="1094263" y="778325"/>
            <a:ext cx="4448100" cy="1058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5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09" name="Google Shape;309;p39"/>
          <p:cNvSpPr txBox="1">
            <a:spLocks noGrp="1"/>
          </p:cNvSpPr>
          <p:nvPr>
            <p:ph type="subTitle" idx="1"/>
          </p:nvPr>
        </p:nvSpPr>
        <p:spPr>
          <a:xfrm>
            <a:off x="1094225" y="1651512"/>
            <a:ext cx="4448100" cy="1224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atin typeface="Hanken Grotesk"/>
                <a:ea typeface="Hanken Grotesk"/>
                <a:cs typeface="Hanken Grotesk"/>
                <a:sym typeface="Hanken Grotesk"/>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0" name="Google Shape;310;p39"/>
          <p:cNvSpPr txBox="1"/>
          <p:nvPr/>
        </p:nvSpPr>
        <p:spPr>
          <a:xfrm>
            <a:off x="1094225" y="3383825"/>
            <a:ext cx="5797200" cy="55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en" sz="1200">
                <a:solidFill>
                  <a:schemeClr val="dk1"/>
                </a:solidFill>
                <a:latin typeface="Hanken Grotesk"/>
                <a:ea typeface="Hanken Grotesk"/>
                <a:cs typeface="Hanken Grotesk"/>
                <a:sym typeface="Hanken Grotesk"/>
              </a:rPr>
              <a:t>CREDITS: This presentation template was created by </a:t>
            </a:r>
            <a:r>
              <a:rPr lang="en" sz="1200" b="1" u="sng">
                <a:solidFill>
                  <a:schemeClr val="dk1"/>
                </a:solidFill>
                <a:latin typeface="Hanken Grotesk"/>
                <a:ea typeface="Hanken Grotesk"/>
                <a:cs typeface="Hanken Grotesk"/>
                <a:sym typeface="Hanken Grotesk"/>
                <a:hlinkClick r:id="rId2">
                  <a:extLst>
                    <a:ext uri="{A12FA001-AC4F-418D-AE19-62706E023703}">
                      <ahyp:hlinkClr xmlns:ahyp="http://schemas.microsoft.com/office/drawing/2018/hyperlinkcolor" val="tx"/>
                    </a:ext>
                  </a:extLst>
                </a:hlinkClick>
              </a:rPr>
              <a:t>Slidesgo</a:t>
            </a:r>
            <a:r>
              <a:rPr lang="en" sz="1200" b="1">
                <a:solidFill>
                  <a:schemeClr val="dk1"/>
                </a:solidFill>
                <a:latin typeface="Hanken Grotesk"/>
                <a:ea typeface="Hanken Grotesk"/>
                <a:cs typeface="Hanken Grotesk"/>
                <a:sym typeface="Hanken Grotesk"/>
              </a:rPr>
              <a:t>,</a:t>
            </a:r>
            <a:r>
              <a:rPr lang="en" sz="1200">
                <a:solidFill>
                  <a:schemeClr val="dk1"/>
                </a:solidFill>
                <a:latin typeface="Hanken Grotesk"/>
                <a:ea typeface="Hanken Grotesk"/>
                <a:cs typeface="Hanken Grotesk"/>
                <a:sym typeface="Hanken Grotesk"/>
              </a:rPr>
              <a:t> and includes icons, infographics &amp; images by </a:t>
            </a:r>
            <a:r>
              <a:rPr lang="en" sz="1200"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Freepik</a:t>
            </a:r>
            <a:r>
              <a:rPr lang="en" sz="1200" b="1" u="sng">
                <a:solidFill>
                  <a:schemeClr val="dk1"/>
                </a:solidFill>
                <a:latin typeface="Hanken Grotesk"/>
                <a:ea typeface="Hanken Grotesk"/>
                <a:cs typeface="Hanken Grotesk"/>
                <a:sym typeface="Hanken Grotesk"/>
              </a:rPr>
              <a:t> </a:t>
            </a:r>
            <a:endParaRPr sz="1200" b="1" u="sng">
              <a:solidFill>
                <a:schemeClr val="dk1"/>
              </a:solidFill>
              <a:latin typeface="Hanken Grotesk"/>
              <a:ea typeface="Hanken Grotesk"/>
              <a:cs typeface="Hanken Grotesk"/>
              <a:sym typeface="Hanken Grotesk"/>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311"/>
        <p:cNvGrpSpPr/>
        <p:nvPr/>
      </p:nvGrpSpPr>
      <p:grpSpPr>
        <a:xfrm>
          <a:off x="0" y="0"/>
          <a:ext cx="0" cy="0"/>
          <a:chOff x="0" y="0"/>
          <a:chExt cx="0" cy="0"/>
        </a:xfrm>
      </p:grpSpPr>
      <p:sp>
        <p:nvSpPr>
          <p:cNvPr id="312" name="Google Shape;312;p40"/>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3" name="Google Shape;313;p40"/>
          <p:cNvGrpSpPr/>
          <p:nvPr/>
        </p:nvGrpSpPr>
        <p:grpSpPr>
          <a:xfrm>
            <a:off x="232200" y="-49400"/>
            <a:ext cx="8679000" cy="5250800"/>
            <a:chOff x="232200" y="-49400"/>
            <a:chExt cx="8679000" cy="5250800"/>
          </a:xfrm>
        </p:grpSpPr>
        <p:sp>
          <p:nvSpPr>
            <p:cNvPr id="314" name="Google Shape;314;p40"/>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5" name="Google Shape;315;p40"/>
            <p:cNvGrpSpPr/>
            <p:nvPr/>
          </p:nvGrpSpPr>
          <p:grpSpPr>
            <a:xfrm>
              <a:off x="232200" y="-49400"/>
              <a:ext cx="8679000" cy="5250800"/>
              <a:chOff x="232200" y="-49400"/>
              <a:chExt cx="8679000" cy="5250800"/>
            </a:xfrm>
          </p:grpSpPr>
          <p:cxnSp>
            <p:nvCxnSpPr>
              <p:cNvPr id="316" name="Google Shape;316;p40"/>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317" name="Google Shape;317;p40"/>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318"/>
        <p:cNvGrpSpPr/>
        <p:nvPr/>
      </p:nvGrpSpPr>
      <p:grpSpPr>
        <a:xfrm>
          <a:off x="0" y="0"/>
          <a:ext cx="0" cy="0"/>
          <a:chOff x="0" y="0"/>
          <a:chExt cx="0" cy="0"/>
        </a:xfrm>
      </p:grpSpPr>
      <p:sp>
        <p:nvSpPr>
          <p:cNvPr id="319" name="Google Shape;319;p41"/>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0" name="Google Shape;320;p41"/>
          <p:cNvGrpSpPr/>
          <p:nvPr/>
        </p:nvGrpSpPr>
        <p:grpSpPr>
          <a:xfrm>
            <a:off x="232200" y="232800"/>
            <a:ext cx="9045000" cy="4975500"/>
            <a:chOff x="232200" y="232800"/>
            <a:chExt cx="9045000" cy="4975500"/>
          </a:xfrm>
        </p:grpSpPr>
        <p:sp>
          <p:nvSpPr>
            <p:cNvPr id="321" name="Google Shape;321;p41"/>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2" name="Google Shape;322;p41"/>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323" name="Google Shape;323;p41"/>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52" name="Google Shape;52;p13"/>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drive.google.com/file/d/1bdRu3YH-Q6N9U0OYjZhWzjteJMjG022j/view" TargetMode="External"/><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hyperlink" Target="http://drive.google.com/file/d/13W0osjawxqP0pppz79_qWsB6gA6VPb9A/view" TargetMode="External"/><Relationship Id="rId2" Type="http://schemas.openxmlformats.org/officeDocument/2006/relationships/notesSlide" Target="../notesSlides/notesSlide10.xml"/><Relationship Id="rId1" Type="http://schemas.openxmlformats.org/officeDocument/2006/relationships/slideLayout" Target="../slideLayouts/slideLayout30.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hyperlink" Target="http://drive.google.com/file/d/1q6xfFhVfhFrrmLELY9OTLKi20Z2JTS_w/view"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hyperlink" Target="http://drive.google.com/file/d/1BH2Hj5RxD5L7vvDFcln91DVQfBj8QN1v/view"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hyperlink" Target="http://drive.google.com/file/d/1UYNCsdRBkKJ7TuQmBzvvEac08r8bWJLt/view"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3" Type="http://schemas.openxmlformats.org/officeDocument/2006/relationships/hyperlink" Target="https://t.co/u04st9avXw" TargetMode="External"/><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hyperlink" Target="http://drive.google.com/file/d/1vFCGLQLr6_Fb2PxAShzIBPpJcVBXXxNE/view"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hyperlink" Target="http://drive.google.com/file/d/1QuVs8RTOh9wEQHZcq1KvI1MuJREoHVjZ/view" TargetMode="External"/><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drive.google.com/file/d/1BN1h8XibYTKAQug5r2b_HE4xbkGeqX0k/view"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LIS4761 MINING</a:t>
            </a:r>
            <a:endParaRPr/>
          </a:p>
          <a:p>
            <a:pPr marL="0" lvl="0" indent="0" algn="l" rtl="0">
              <a:spcBef>
                <a:spcPts val="0"/>
              </a:spcBef>
              <a:spcAft>
                <a:spcPts val="0"/>
              </a:spcAft>
              <a:buNone/>
            </a:pPr>
            <a:r>
              <a:rPr lang="en">
                <a:solidFill>
                  <a:srgbClr val="0B5394"/>
                </a:solidFill>
              </a:rPr>
              <a:t>COVID-19 DATA IN FL</a:t>
            </a:r>
            <a:endParaRPr>
              <a:solidFill>
                <a:srgbClr val="0B5394"/>
              </a:solidFill>
            </a:endParaRPr>
          </a:p>
        </p:txBody>
      </p:sp>
      <p:sp>
        <p:nvSpPr>
          <p:cNvPr id="330" name="Google Shape;330;p42"/>
          <p:cNvSpPr txBox="1"/>
          <p:nvPr/>
        </p:nvSpPr>
        <p:spPr>
          <a:xfrm>
            <a:off x="6984525" y="595825"/>
            <a:ext cx="138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Hanken Grotesk"/>
                <a:ea typeface="Hanken Grotesk"/>
                <a:cs typeface="Hanken Grotesk"/>
                <a:sym typeface="Hanken Grotesk"/>
              </a:rPr>
              <a:t>GROUP THREE</a:t>
            </a:r>
            <a:endParaRPr/>
          </a:p>
        </p:txBody>
      </p:sp>
      <p:sp>
        <p:nvSpPr>
          <p:cNvPr id="4" name="Google Shape;329;p42">
            <a:extLst>
              <a:ext uri="{FF2B5EF4-FFF2-40B4-BE49-F238E27FC236}">
                <a16:creationId xmlns:a16="http://schemas.microsoft.com/office/drawing/2014/main" id="{94CE51D8-D61F-9BEA-04B5-F1F4F1D3EF36}"/>
              </a:ext>
            </a:extLst>
          </p:cNvPr>
          <p:cNvSpPr txBox="1">
            <a:spLocks/>
          </p:cNvSpPr>
          <p:nvPr/>
        </p:nvSpPr>
        <p:spPr>
          <a:xfrm>
            <a:off x="1087125" y="2997487"/>
            <a:ext cx="5897400" cy="13055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800"/>
              <a:buFont typeface="Hanken Grotesk"/>
              <a:buNone/>
              <a:defRPr sz="18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800"/>
              <a:buFont typeface="Hanken Grotesk"/>
              <a:buNone/>
              <a:defRPr sz="18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800"/>
              <a:buFont typeface="Hanken Grotesk"/>
              <a:buNone/>
              <a:defRPr sz="18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800"/>
              <a:buFont typeface="Hanken Grotesk"/>
              <a:buNone/>
              <a:defRPr sz="18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800"/>
              <a:buFont typeface="Hanken Grotesk"/>
              <a:buNone/>
              <a:defRPr sz="18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800"/>
              <a:buFont typeface="Hanken Grotesk"/>
              <a:buNone/>
              <a:defRPr sz="18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800"/>
              <a:buFont typeface="Hanken Grotesk"/>
              <a:buNone/>
              <a:defRPr sz="18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800"/>
              <a:buFont typeface="Hanken Grotesk"/>
              <a:buNone/>
              <a:defRPr sz="1800" b="0" i="0" u="none" strike="noStrike" cap="none">
                <a:solidFill>
                  <a:schemeClr val="dk1"/>
                </a:solidFill>
                <a:latin typeface="Hanken Grotesk"/>
                <a:ea typeface="Hanken Grotesk"/>
                <a:cs typeface="Hanken Grotesk"/>
                <a:sym typeface="Hanken Grotesk"/>
              </a:defRPr>
            </a:lvl9pPr>
          </a:lstStyle>
          <a:p>
            <a:pPr marL="0" indent="0"/>
            <a:r>
              <a:rPr lang="en-US"/>
              <a:t>JADYN HOLLAR	VERONICA VACCARO          KINGSLEY JOHN        	LYNDSEY GUIDASH	            KAYLEN TON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cxnSp>
        <p:nvCxnSpPr>
          <p:cNvPr id="335" name="Google Shape;335;p43"/>
          <p:cNvCxnSpPr>
            <a:stCxn id="336" idx="1"/>
          </p:cNvCxnSpPr>
          <p:nvPr/>
        </p:nvCxnSpPr>
        <p:spPr>
          <a:xfrm rot="10800000">
            <a:off x="-167825" y="3160425"/>
            <a:ext cx="6304800" cy="0"/>
          </a:xfrm>
          <a:prstGeom prst="straightConnector1">
            <a:avLst/>
          </a:prstGeom>
          <a:noFill/>
          <a:ln w="19050" cap="flat" cmpd="sng">
            <a:solidFill>
              <a:schemeClr val="dk1"/>
            </a:solidFill>
            <a:prstDash val="solid"/>
            <a:round/>
            <a:headEnd type="none" w="med" len="med"/>
            <a:tailEnd type="none" w="med" len="med"/>
          </a:ln>
        </p:spPr>
      </p:cxnSp>
      <p:cxnSp>
        <p:nvCxnSpPr>
          <p:cNvPr id="337" name="Google Shape;337;p43"/>
          <p:cNvCxnSpPr>
            <a:stCxn id="338" idx="3"/>
          </p:cNvCxnSpPr>
          <p:nvPr/>
        </p:nvCxnSpPr>
        <p:spPr>
          <a:xfrm>
            <a:off x="1285275" y="1502500"/>
            <a:ext cx="8009700" cy="0"/>
          </a:xfrm>
          <a:prstGeom prst="straightConnector1">
            <a:avLst/>
          </a:prstGeom>
          <a:noFill/>
          <a:ln w="19050" cap="flat" cmpd="sng">
            <a:solidFill>
              <a:schemeClr val="dk1"/>
            </a:solidFill>
            <a:prstDash val="solid"/>
            <a:round/>
            <a:headEnd type="none" w="med" len="med"/>
            <a:tailEnd type="none" w="med" len="med"/>
          </a:ln>
        </p:spPr>
      </p:cxnSp>
      <p:sp>
        <p:nvSpPr>
          <p:cNvPr id="339" name="Google Shape;339;p43"/>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340" name="Google Shape;340;p43"/>
          <p:cNvSpPr txBox="1">
            <a:spLocks noGrp="1"/>
          </p:cNvSpPr>
          <p:nvPr>
            <p:ph type="subTitle" idx="3"/>
          </p:nvPr>
        </p:nvSpPr>
        <p:spPr>
          <a:xfrm>
            <a:off x="3418500" y="3772552"/>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Measures the tone of Florida Covid-19 tweets.</a:t>
            </a:r>
            <a:endParaRPr sz="1600"/>
          </a:p>
        </p:txBody>
      </p:sp>
      <p:sp>
        <p:nvSpPr>
          <p:cNvPr id="341" name="Google Shape;341;p43"/>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Topic &amp; research questions.</a:t>
            </a:r>
            <a:endParaRPr/>
          </a:p>
        </p:txBody>
      </p:sp>
      <p:sp>
        <p:nvSpPr>
          <p:cNvPr id="342" name="Google Shape;342;p43"/>
          <p:cNvSpPr txBox="1">
            <a:spLocks noGrp="1"/>
          </p:cNvSpPr>
          <p:nvPr>
            <p:ph type="subTitle" idx="2"/>
          </p:nvPr>
        </p:nvSpPr>
        <p:spPr>
          <a:xfrm>
            <a:off x="788675" y="3772552"/>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Uncovering the most prominent covid-related topics in 2020 and 2021. </a:t>
            </a:r>
            <a:endParaRPr/>
          </a:p>
        </p:txBody>
      </p:sp>
      <p:sp>
        <p:nvSpPr>
          <p:cNvPr id="343" name="Google Shape;343;p43"/>
          <p:cNvSpPr txBox="1">
            <a:spLocks noGrp="1"/>
          </p:cNvSpPr>
          <p:nvPr>
            <p:ph type="subTitle" idx="4"/>
          </p:nvPr>
        </p:nvSpPr>
        <p:spPr>
          <a:xfrm>
            <a:off x="3418500" y="2105875"/>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Exploring different variables in the dataset. </a:t>
            </a:r>
            <a:endParaRPr/>
          </a:p>
        </p:txBody>
      </p:sp>
      <p:sp>
        <p:nvSpPr>
          <p:cNvPr id="338" name="Google Shape;338;p43"/>
          <p:cNvSpPr txBox="1">
            <a:spLocks noGrp="1"/>
          </p:cNvSpPr>
          <p:nvPr>
            <p:ph type="title" idx="5"/>
          </p:nvPr>
        </p:nvSpPr>
        <p:spPr>
          <a:xfrm>
            <a:off x="919575" y="1319650"/>
            <a:ext cx="365700" cy="365700"/>
          </a:xfrm>
          <a:prstGeom prst="rect">
            <a:avLst/>
          </a:prstGeom>
          <a:solidFill>
            <a:srgbClr val="0B5394"/>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44" name="Google Shape;344;p43"/>
          <p:cNvSpPr txBox="1">
            <a:spLocks noGrp="1"/>
          </p:cNvSpPr>
          <p:nvPr>
            <p:ph type="title" idx="6"/>
          </p:nvPr>
        </p:nvSpPr>
        <p:spPr>
          <a:xfrm>
            <a:off x="3509050" y="2977575"/>
            <a:ext cx="365700" cy="365700"/>
          </a:xfrm>
          <a:prstGeom prst="rect">
            <a:avLst/>
          </a:prstGeom>
          <a:solidFill>
            <a:srgbClr val="0B5394"/>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345" name="Google Shape;345;p43"/>
          <p:cNvSpPr txBox="1">
            <a:spLocks noGrp="1"/>
          </p:cNvSpPr>
          <p:nvPr>
            <p:ph type="title" idx="7"/>
          </p:nvPr>
        </p:nvSpPr>
        <p:spPr>
          <a:xfrm>
            <a:off x="919575" y="2977575"/>
            <a:ext cx="365700" cy="365700"/>
          </a:xfrm>
          <a:prstGeom prst="rect">
            <a:avLst/>
          </a:prstGeom>
          <a:solidFill>
            <a:srgbClr val="0B5394"/>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46" name="Google Shape;346;p43"/>
          <p:cNvSpPr txBox="1">
            <a:spLocks noGrp="1"/>
          </p:cNvSpPr>
          <p:nvPr>
            <p:ph type="title" idx="8"/>
          </p:nvPr>
        </p:nvSpPr>
        <p:spPr>
          <a:xfrm>
            <a:off x="3528275" y="1319650"/>
            <a:ext cx="365700" cy="365700"/>
          </a:xfrm>
          <a:prstGeom prst="rect">
            <a:avLst/>
          </a:prstGeom>
          <a:solidFill>
            <a:srgbClr val="0B5394"/>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47" name="Google Shape;347;p43"/>
          <p:cNvSpPr txBox="1">
            <a:spLocks noGrp="1"/>
          </p:cNvSpPr>
          <p:nvPr>
            <p:ph type="subTitle" idx="9"/>
          </p:nvPr>
        </p:nvSpPr>
        <p:spPr>
          <a:xfrm>
            <a:off x="6048325" y="3772552"/>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Final insights.</a:t>
            </a:r>
            <a:endParaRPr/>
          </a:p>
        </p:txBody>
      </p:sp>
      <p:sp>
        <p:nvSpPr>
          <p:cNvPr id="348" name="Google Shape;348;p43"/>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Examining the relationship between FL county factors and COVID rates.</a:t>
            </a:r>
            <a:endParaRPr/>
          </a:p>
        </p:txBody>
      </p:sp>
      <p:sp>
        <p:nvSpPr>
          <p:cNvPr id="336" name="Google Shape;336;p43"/>
          <p:cNvSpPr txBox="1">
            <a:spLocks noGrp="1"/>
          </p:cNvSpPr>
          <p:nvPr>
            <p:ph type="title" idx="14"/>
          </p:nvPr>
        </p:nvSpPr>
        <p:spPr>
          <a:xfrm>
            <a:off x="6136975" y="2977575"/>
            <a:ext cx="365700" cy="365700"/>
          </a:xfrm>
          <a:prstGeom prst="rect">
            <a:avLst/>
          </a:prstGeom>
          <a:solidFill>
            <a:srgbClr val="0B5394"/>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349" name="Google Shape;349;p43"/>
          <p:cNvSpPr txBox="1">
            <a:spLocks noGrp="1"/>
          </p:cNvSpPr>
          <p:nvPr>
            <p:ph type="title" idx="15"/>
          </p:nvPr>
        </p:nvSpPr>
        <p:spPr>
          <a:xfrm>
            <a:off x="6136975" y="1319650"/>
            <a:ext cx="365700" cy="365700"/>
          </a:xfrm>
          <a:prstGeom prst="rect">
            <a:avLst/>
          </a:prstGeom>
          <a:solidFill>
            <a:srgbClr val="0B5394"/>
          </a:solidFill>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50" name="Google Shape;350;p43"/>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a:t>
            </a:r>
            <a:endParaRPr/>
          </a:p>
        </p:txBody>
      </p:sp>
      <p:sp>
        <p:nvSpPr>
          <p:cNvPr id="351" name="Google Shape;351;p43"/>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Topic Modeling</a:t>
            </a:r>
            <a:endParaRPr/>
          </a:p>
        </p:txBody>
      </p:sp>
      <p:sp>
        <p:nvSpPr>
          <p:cNvPr id="352" name="Google Shape;352;p43"/>
          <p:cNvSpPr txBox="1">
            <a:spLocks noGrp="1"/>
          </p:cNvSpPr>
          <p:nvPr>
            <p:ph type="subTitle" idx="18"/>
          </p:nvPr>
        </p:nvSpPr>
        <p:spPr>
          <a:xfrm>
            <a:off x="3418500" y="3503023"/>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Sentiment</a:t>
            </a:r>
            <a:endParaRPr/>
          </a:p>
        </p:txBody>
      </p:sp>
      <p:sp>
        <p:nvSpPr>
          <p:cNvPr id="353" name="Google Shape;353;p43"/>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EDA via R Shiny</a:t>
            </a:r>
            <a:endParaRPr/>
          </a:p>
        </p:txBody>
      </p:sp>
      <p:sp>
        <p:nvSpPr>
          <p:cNvPr id="354" name="Google Shape;354;p43"/>
          <p:cNvSpPr txBox="1">
            <a:spLocks noGrp="1"/>
          </p:cNvSpPr>
          <p:nvPr>
            <p:ph type="subTitle" idx="20"/>
          </p:nvPr>
        </p:nvSpPr>
        <p:spPr>
          <a:xfrm>
            <a:off x="6048325" y="3503023"/>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Conclusions</a:t>
            </a:r>
            <a:endParaRPr/>
          </a:p>
        </p:txBody>
      </p:sp>
      <p:sp>
        <p:nvSpPr>
          <p:cNvPr id="355" name="Google Shape;355;p43"/>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Regression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4"/>
          <p:cNvSpPr txBox="1">
            <a:spLocks noGrp="1"/>
          </p:cNvSpPr>
          <p:nvPr>
            <p:ph type="title"/>
          </p:nvPr>
        </p:nvSpPr>
        <p:spPr>
          <a:xfrm>
            <a:off x="1544400" y="546650"/>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0B5394"/>
                </a:solidFill>
              </a:rPr>
              <a:t>Introduction</a:t>
            </a:r>
            <a:endParaRPr>
              <a:solidFill>
                <a:srgbClr val="0B5394"/>
              </a:solidFill>
            </a:endParaRPr>
          </a:p>
        </p:txBody>
      </p:sp>
      <p:sp>
        <p:nvSpPr>
          <p:cNvPr id="361" name="Google Shape;361;p44"/>
          <p:cNvSpPr txBox="1">
            <a:spLocks noGrp="1"/>
          </p:cNvSpPr>
          <p:nvPr>
            <p:ph type="subTitle" idx="1"/>
          </p:nvPr>
        </p:nvSpPr>
        <p:spPr>
          <a:xfrm>
            <a:off x="932250" y="1238550"/>
            <a:ext cx="7279500" cy="320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project analyzes COVID-19 pandemic from both a public perception and data-driven perspective. We combined text mining and sentiment analysis of Twitter data with exploratory data analysis and regression modeling of Florida’s county-level COVID-19 data. We used two main datasets:</a:t>
            </a:r>
            <a:endParaRPr/>
          </a:p>
          <a:p>
            <a:pPr marL="457200" lvl="0" indent="-317500" algn="l" rtl="0">
              <a:spcBef>
                <a:spcPts val="0"/>
              </a:spcBef>
              <a:spcAft>
                <a:spcPts val="0"/>
              </a:spcAft>
              <a:buSzPts val="1400"/>
              <a:buChar char="●"/>
            </a:pPr>
            <a:r>
              <a:rPr lang="en"/>
              <a:t>A Kaggle Twitter dataset with over 400,000 tweets across three time periods to study how public discussions and emotions about COVID-19 changed over time.</a:t>
            </a:r>
            <a:endParaRPr/>
          </a:p>
          <a:p>
            <a:pPr marL="457200" lvl="0" indent="-317500" algn="l" rtl="0">
              <a:spcBef>
                <a:spcPts val="0"/>
              </a:spcBef>
              <a:spcAft>
                <a:spcPts val="0"/>
              </a:spcAft>
              <a:buSzPts val="1400"/>
              <a:buChar char="●"/>
            </a:pPr>
            <a:r>
              <a:rPr lang="en"/>
              <a:t>A Florida county-level dataset from the U.S. COVID-19 library, which includes variables such as new percent positive cases, deaths, testing rates, and median age, to explore factors related to infection rates.</a:t>
            </a:r>
            <a:endParaRPr/>
          </a:p>
          <a:p>
            <a:pPr marL="0" lvl="0" indent="0" algn="l" rtl="0">
              <a:spcBef>
                <a:spcPts val="0"/>
              </a:spcBef>
              <a:spcAft>
                <a:spcPts val="0"/>
              </a:spcAft>
              <a:buNone/>
            </a:pPr>
            <a:r>
              <a:rPr lang="en"/>
              <a:t>Our research questions were:</a:t>
            </a:r>
            <a:endParaRPr/>
          </a:p>
          <a:p>
            <a:pPr marL="457200" lvl="0" indent="-317500" algn="l" rtl="0">
              <a:spcBef>
                <a:spcPts val="0"/>
              </a:spcBef>
              <a:spcAft>
                <a:spcPts val="0"/>
              </a:spcAft>
              <a:buSzPts val="1400"/>
              <a:buChar char="●"/>
            </a:pPr>
            <a:r>
              <a:rPr lang="en"/>
              <a:t>How did major COVID-19 discussion topics and sentiments shift across different stages of the pandemic? </a:t>
            </a:r>
            <a:endParaRPr/>
          </a:p>
          <a:p>
            <a:pPr marL="457200" lvl="0" indent="-317500" algn="l" rtl="0">
              <a:spcBef>
                <a:spcPts val="0"/>
              </a:spcBef>
              <a:spcAft>
                <a:spcPts val="0"/>
              </a:spcAft>
              <a:buSzPts val="1400"/>
              <a:buChar char="●"/>
            </a:pPr>
            <a:r>
              <a:rPr lang="en"/>
              <a:t>Which county-level factors best predict new percent positive COVID-19 rates in Florida?</a:t>
            </a:r>
            <a:endParaRPr/>
          </a:p>
        </p:txBody>
      </p:sp>
      <p:sp>
        <p:nvSpPr>
          <p:cNvPr id="362" name="Google Shape;362;p44"/>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5"/>
          <p:cNvSpPr txBox="1">
            <a:spLocks noGrp="1"/>
          </p:cNvSpPr>
          <p:nvPr>
            <p:ph type="title"/>
          </p:nvPr>
        </p:nvSpPr>
        <p:spPr>
          <a:xfrm>
            <a:off x="1216475" y="576825"/>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rgbClr val="0B5394"/>
                </a:solidFill>
              </a:rPr>
              <a:t>Project Goal</a:t>
            </a:r>
            <a:endParaRPr sz="2800">
              <a:solidFill>
                <a:srgbClr val="0B5394"/>
              </a:solidFill>
            </a:endParaRPr>
          </a:p>
        </p:txBody>
      </p:sp>
      <p:sp>
        <p:nvSpPr>
          <p:cNvPr id="368" name="Google Shape;368;p45"/>
          <p:cNvSpPr txBox="1">
            <a:spLocks noGrp="1"/>
          </p:cNvSpPr>
          <p:nvPr>
            <p:ph type="subTitle" idx="1"/>
          </p:nvPr>
        </p:nvSpPr>
        <p:spPr>
          <a:xfrm>
            <a:off x="1216475" y="1377100"/>
            <a:ext cx="6152400" cy="3067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Our goal is to understand how COVID-19 conversations shifted over time </a:t>
            </a:r>
            <a:endParaRPr/>
          </a:p>
          <a:p>
            <a:pPr marL="457200" lvl="0" indent="-317500" algn="l" rtl="0">
              <a:spcBef>
                <a:spcPts val="0"/>
              </a:spcBef>
              <a:spcAft>
                <a:spcPts val="0"/>
              </a:spcAft>
              <a:buSzPts val="1400"/>
              <a:buChar char="●"/>
            </a:pPr>
            <a:r>
              <a:rPr lang="en"/>
              <a:t>We used three methods to study both public discussions and real county-level COVID data:</a:t>
            </a:r>
            <a:endParaRPr/>
          </a:p>
          <a:p>
            <a:pPr marL="914400" lvl="0" indent="-317500" algn="l" rtl="0">
              <a:spcBef>
                <a:spcPts val="0"/>
              </a:spcBef>
              <a:spcAft>
                <a:spcPts val="0"/>
              </a:spcAft>
              <a:buSzPts val="1400"/>
              <a:buChar char="●"/>
            </a:pPr>
            <a:r>
              <a:rPr lang="en"/>
              <a:t>Topic Modeling (LDA): to uncover themes in tweets </a:t>
            </a:r>
            <a:endParaRPr/>
          </a:p>
          <a:p>
            <a:pPr marL="914400" lvl="0" indent="-317500" algn="l" rtl="0">
              <a:spcBef>
                <a:spcPts val="0"/>
              </a:spcBef>
              <a:spcAft>
                <a:spcPts val="0"/>
              </a:spcAft>
              <a:buSzPts val="1400"/>
              <a:buChar char="●"/>
            </a:pPr>
            <a:r>
              <a:rPr lang="en"/>
              <a:t>Sentiment Analysis: to evaluate positive, negative and neutral language</a:t>
            </a:r>
            <a:endParaRPr/>
          </a:p>
          <a:p>
            <a:pPr marL="914400" lvl="0" indent="-317500" algn="l" rtl="0">
              <a:spcBef>
                <a:spcPts val="0"/>
              </a:spcBef>
              <a:spcAft>
                <a:spcPts val="0"/>
              </a:spcAft>
              <a:buSzPts val="1400"/>
              <a:buChar char="●"/>
            </a:pPr>
            <a:r>
              <a:rPr lang="en"/>
              <a:t>Linear Regression: to examine how county factors relate to COVID positivity rates </a:t>
            </a:r>
            <a:endParaRPr/>
          </a:p>
          <a:p>
            <a:pPr marL="457200" lvl="0" indent="-317500" algn="l" rtl="0">
              <a:spcBef>
                <a:spcPts val="0"/>
              </a:spcBef>
              <a:spcAft>
                <a:spcPts val="0"/>
              </a:spcAft>
              <a:buSzPts val="1400"/>
              <a:buChar char="●"/>
            </a:pPr>
            <a:r>
              <a:rPr lang="en"/>
              <a:t>Together these approaches give us a better picture of how the pandemic evolved publicly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6"/>
          <p:cNvSpPr txBox="1">
            <a:spLocks noGrp="1"/>
          </p:cNvSpPr>
          <p:nvPr>
            <p:ph type="title"/>
          </p:nvPr>
        </p:nvSpPr>
        <p:spPr>
          <a:xfrm>
            <a:off x="1216475" y="576825"/>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rgbClr val="0B5394"/>
                </a:solidFill>
              </a:rPr>
              <a:t>Dataset Information</a:t>
            </a:r>
            <a:endParaRPr sz="2800">
              <a:solidFill>
                <a:srgbClr val="0B5394"/>
              </a:solidFill>
            </a:endParaRPr>
          </a:p>
        </p:txBody>
      </p:sp>
      <p:sp>
        <p:nvSpPr>
          <p:cNvPr id="374" name="Google Shape;374;p46"/>
          <p:cNvSpPr txBox="1">
            <a:spLocks noGrp="1"/>
          </p:cNvSpPr>
          <p:nvPr>
            <p:ph type="subTitle" idx="1"/>
          </p:nvPr>
        </p:nvSpPr>
        <p:spPr>
          <a:xfrm>
            <a:off x="1216475" y="1377100"/>
            <a:ext cx="6152400" cy="306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t>Twitter Dataset (Kaggle):</a:t>
            </a:r>
            <a:endParaRPr sz="1300" b="1" dirty="0"/>
          </a:p>
          <a:p>
            <a:pPr marL="457200" lvl="0" indent="-311150" algn="l" rtl="0">
              <a:spcBef>
                <a:spcPts val="0"/>
              </a:spcBef>
              <a:spcAft>
                <a:spcPts val="0"/>
              </a:spcAft>
              <a:buSzPts val="1300"/>
              <a:buChar char="●"/>
            </a:pPr>
            <a:r>
              <a:rPr lang="en" sz="1300" dirty="0"/>
              <a:t>About 400,000 lines of data across three time periods:</a:t>
            </a:r>
            <a:endParaRPr sz="1300" dirty="0"/>
          </a:p>
          <a:p>
            <a:pPr marL="914400" lvl="0" indent="-311150" algn="l" rtl="0">
              <a:spcBef>
                <a:spcPts val="0"/>
              </a:spcBef>
              <a:spcAft>
                <a:spcPts val="0"/>
              </a:spcAft>
              <a:buSzPts val="1300"/>
              <a:buChar char="●"/>
            </a:pPr>
            <a:r>
              <a:rPr lang="en" sz="1300" dirty="0"/>
              <a:t>Apr - Jun 2020</a:t>
            </a:r>
            <a:endParaRPr sz="1300" dirty="0"/>
          </a:p>
          <a:p>
            <a:pPr marL="914400" lvl="0" indent="-311150" algn="l" rtl="0">
              <a:spcBef>
                <a:spcPts val="0"/>
              </a:spcBef>
              <a:spcAft>
                <a:spcPts val="0"/>
              </a:spcAft>
              <a:buSzPts val="1300"/>
              <a:buChar char="●"/>
            </a:pPr>
            <a:r>
              <a:rPr lang="en" sz="1300" dirty="0"/>
              <a:t>Aug - Sep 2020</a:t>
            </a:r>
            <a:endParaRPr sz="1300" dirty="0"/>
          </a:p>
          <a:p>
            <a:pPr marL="914400" lvl="0" indent="-311150" algn="l" rtl="0">
              <a:spcBef>
                <a:spcPts val="0"/>
              </a:spcBef>
              <a:spcAft>
                <a:spcPts val="0"/>
              </a:spcAft>
              <a:buSzPts val="1300"/>
              <a:buChar char="●"/>
            </a:pPr>
            <a:r>
              <a:rPr lang="en" sz="1300" dirty="0"/>
              <a:t>Apr - Jun 2021</a:t>
            </a:r>
            <a:endParaRPr sz="1300" dirty="0"/>
          </a:p>
          <a:p>
            <a:pPr marL="457200" lvl="0" indent="-311150" algn="l" rtl="0">
              <a:spcBef>
                <a:spcPts val="0"/>
              </a:spcBef>
              <a:spcAft>
                <a:spcPts val="0"/>
              </a:spcAft>
              <a:buSzPts val="1300"/>
              <a:buChar char="●"/>
            </a:pPr>
            <a:r>
              <a:rPr lang="en" sz="1300" dirty="0"/>
              <a:t>Includes original tweet text, hashtags, metadata, and basic engagement data</a:t>
            </a:r>
            <a:endParaRPr sz="1300" dirty="0"/>
          </a:p>
          <a:p>
            <a:pPr marL="0" lvl="0" indent="0" algn="l" rtl="0">
              <a:spcBef>
                <a:spcPts val="0"/>
              </a:spcBef>
              <a:spcAft>
                <a:spcPts val="0"/>
              </a:spcAft>
              <a:buNone/>
            </a:pPr>
            <a:r>
              <a:rPr lang="en" sz="1300" b="1" dirty="0"/>
              <a:t>Florida COVID County Dataset:</a:t>
            </a:r>
            <a:endParaRPr sz="1300" b="1" dirty="0"/>
          </a:p>
          <a:p>
            <a:pPr marL="457200" lvl="0" indent="-311150" algn="l" rtl="0">
              <a:spcBef>
                <a:spcPts val="0"/>
              </a:spcBef>
              <a:spcAft>
                <a:spcPts val="0"/>
              </a:spcAft>
              <a:buSzPts val="1300"/>
              <a:buChar char="●"/>
            </a:pPr>
            <a:r>
              <a:rPr lang="en" sz="1300" dirty="0"/>
              <a:t>County-level health metrics. The variables we selected for regression were:</a:t>
            </a:r>
            <a:endParaRPr sz="1300" dirty="0"/>
          </a:p>
          <a:p>
            <a:pPr marL="914400" lvl="0" indent="-311150" algn="l" rtl="0">
              <a:spcBef>
                <a:spcPts val="0"/>
              </a:spcBef>
              <a:spcAft>
                <a:spcPts val="0"/>
              </a:spcAft>
              <a:buSzPts val="1300"/>
              <a:buChar char="●"/>
            </a:pPr>
            <a:r>
              <a:rPr lang="en" sz="1300" i="1" dirty="0"/>
              <a:t>COUNTYNAME</a:t>
            </a:r>
            <a:endParaRPr sz="1300" i="1" dirty="0"/>
          </a:p>
          <a:p>
            <a:pPr marL="914400" lvl="0" indent="-311150" algn="l" rtl="0">
              <a:spcBef>
                <a:spcPts val="0"/>
              </a:spcBef>
              <a:spcAft>
                <a:spcPts val="0"/>
              </a:spcAft>
              <a:buSzPts val="1300"/>
              <a:buChar char="●"/>
            </a:pPr>
            <a:r>
              <a:rPr lang="en" sz="1300" i="1" dirty="0"/>
              <a:t>NewPercPos</a:t>
            </a:r>
            <a:r>
              <a:rPr lang="en" sz="1300" dirty="0"/>
              <a:t> (new percent positive cases)</a:t>
            </a:r>
            <a:endParaRPr sz="1300" dirty="0"/>
          </a:p>
          <a:p>
            <a:pPr marL="914400" lvl="0" indent="-311150" algn="l" rtl="0">
              <a:spcBef>
                <a:spcPts val="0"/>
              </a:spcBef>
              <a:spcAft>
                <a:spcPts val="0"/>
              </a:spcAft>
              <a:buSzPts val="1300"/>
              <a:buChar char="●"/>
            </a:pPr>
            <a:r>
              <a:rPr lang="en" sz="1300" i="1" dirty="0"/>
              <a:t>MedianAge</a:t>
            </a:r>
            <a:endParaRPr sz="1300" i="1" dirty="0"/>
          </a:p>
          <a:p>
            <a:pPr marL="914400" lvl="0" indent="-311150" algn="l" rtl="0">
              <a:spcBef>
                <a:spcPts val="0"/>
              </a:spcBef>
              <a:spcAft>
                <a:spcPts val="0"/>
              </a:spcAft>
              <a:buSzPts val="1300"/>
              <a:buChar char="●"/>
            </a:pPr>
            <a:r>
              <a:rPr lang="en" sz="1300" i="1" dirty="0"/>
              <a:t>EverMon </a:t>
            </a:r>
            <a:r>
              <a:rPr lang="en" sz="1300" dirty="0"/>
              <a:t>(ever monitored)</a:t>
            </a:r>
            <a:endParaRPr sz="1300" dirty="0"/>
          </a:p>
          <a:p>
            <a:pPr marL="914400" lvl="0" indent="-311150" algn="l" rtl="0">
              <a:spcBef>
                <a:spcPts val="0"/>
              </a:spcBef>
              <a:spcAft>
                <a:spcPts val="0"/>
              </a:spcAft>
              <a:buSzPts val="1300"/>
              <a:buChar char="●"/>
            </a:pPr>
            <a:r>
              <a:rPr lang="en" sz="1300" i="1" dirty="0"/>
              <a:t>MonNow </a:t>
            </a:r>
            <a:r>
              <a:rPr lang="en" sz="1300" dirty="0"/>
              <a:t>(monitored now)</a:t>
            </a:r>
            <a:endParaRPr sz="1300" i="1" dirty="0"/>
          </a:p>
          <a:p>
            <a:pPr marL="914400" lvl="1" indent="-311150" algn="ctr" rtl="0">
              <a:spcBef>
                <a:spcPts val="0"/>
              </a:spcBef>
              <a:spcAft>
                <a:spcPts val="0"/>
              </a:spcAft>
              <a:buSzPts val="1300"/>
              <a:buChar char="○"/>
            </a:pPr>
            <a:endParaRPr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7"/>
          <p:cNvSpPr txBox="1">
            <a:spLocks noGrp="1"/>
          </p:cNvSpPr>
          <p:nvPr>
            <p:ph type="title"/>
          </p:nvPr>
        </p:nvSpPr>
        <p:spPr>
          <a:xfrm>
            <a:off x="1216475" y="619175"/>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rgbClr val="0B5394"/>
                </a:solidFill>
              </a:rPr>
              <a:t>Overview of Methods</a:t>
            </a:r>
            <a:endParaRPr sz="2800">
              <a:solidFill>
                <a:srgbClr val="0B5394"/>
              </a:solidFill>
            </a:endParaRPr>
          </a:p>
        </p:txBody>
      </p:sp>
      <p:sp>
        <p:nvSpPr>
          <p:cNvPr id="380" name="Google Shape;380;p47"/>
          <p:cNvSpPr txBox="1">
            <a:spLocks noGrp="1"/>
          </p:cNvSpPr>
          <p:nvPr>
            <p:ph type="subTitle" idx="1"/>
          </p:nvPr>
        </p:nvSpPr>
        <p:spPr>
          <a:xfrm>
            <a:off x="1216475" y="1373275"/>
            <a:ext cx="5487900" cy="299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b="1"/>
              <a:t>Topic Modeling (LDA)</a:t>
            </a:r>
            <a:endParaRPr sz="1300" b="1"/>
          </a:p>
          <a:p>
            <a:pPr marL="457200" lvl="0" indent="-311150" algn="l" rtl="0">
              <a:spcBef>
                <a:spcPts val="0"/>
              </a:spcBef>
              <a:spcAft>
                <a:spcPts val="0"/>
              </a:spcAft>
              <a:buSzPts val="1300"/>
              <a:buChar char="●"/>
            </a:pPr>
            <a:r>
              <a:rPr lang="en" sz="1300"/>
              <a:t>Found common themes in tweets </a:t>
            </a:r>
            <a:endParaRPr sz="1300"/>
          </a:p>
          <a:p>
            <a:pPr marL="457200" lvl="0" indent="-311150" algn="l" rtl="0">
              <a:spcBef>
                <a:spcPts val="0"/>
              </a:spcBef>
              <a:spcAft>
                <a:spcPts val="0"/>
              </a:spcAft>
              <a:buSzPts val="1300"/>
              <a:buChar char="●"/>
            </a:pPr>
            <a:r>
              <a:rPr lang="en" sz="1300"/>
              <a:t>Tested multiple counts using coherence/perplexity</a:t>
            </a:r>
            <a:endParaRPr sz="1300"/>
          </a:p>
          <a:p>
            <a:pPr marL="457200" lvl="0" indent="-311150" algn="l" rtl="0">
              <a:spcBef>
                <a:spcPts val="0"/>
              </a:spcBef>
              <a:spcAft>
                <a:spcPts val="0"/>
              </a:spcAft>
              <a:buSzPts val="1300"/>
              <a:buChar char="●"/>
            </a:pPr>
            <a:r>
              <a:rPr lang="en" sz="1300"/>
              <a:t>Compared how topics shifted across the three COVID periods</a:t>
            </a:r>
            <a:endParaRPr sz="1300"/>
          </a:p>
          <a:p>
            <a:pPr marL="0" lvl="0" indent="0" algn="l" rtl="0">
              <a:spcBef>
                <a:spcPts val="0"/>
              </a:spcBef>
              <a:spcAft>
                <a:spcPts val="0"/>
              </a:spcAft>
              <a:buNone/>
            </a:pPr>
            <a:r>
              <a:rPr lang="en" sz="1300" b="1"/>
              <a:t>Sentiment Analysis</a:t>
            </a:r>
            <a:endParaRPr sz="1300" b="1"/>
          </a:p>
          <a:p>
            <a:pPr marL="457200" lvl="0" indent="-311150" algn="l" rtl="0">
              <a:spcBef>
                <a:spcPts val="0"/>
              </a:spcBef>
              <a:spcAft>
                <a:spcPts val="0"/>
              </a:spcAft>
              <a:buSzPts val="1300"/>
              <a:buChar char="●"/>
            </a:pPr>
            <a:r>
              <a:rPr lang="en" sz="1300"/>
              <a:t>We analyzed tweet emotion using the Bing sentiment lexicon that classifies tweet as positive or negative </a:t>
            </a:r>
            <a:endParaRPr sz="1300"/>
          </a:p>
          <a:p>
            <a:pPr marL="457200" lvl="0" indent="-311150" algn="l" rtl="0">
              <a:spcBef>
                <a:spcPts val="0"/>
              </a:spcBef>
              <a:spcAft>
                <a:spcPts val="0"/>
              </a:spcAft>
              <a:buSzPts val="1300"/>
              <a:buChar char="●"/>
            </a:pPr>
            <a:r>
              <a:rPr lang="en" sz="1300"/>
              <a:t>Classified tweets as positive, negative or neutral </a:t>
            </a:r>
            <a:endParaRPr sz="1300"/>
          </a:p>
          <a:p>
            <a:pPr marL="0" lvl="0" indent="0" algn="l" rtl="0">
              <a:spcBef>
                <a:spcPts val="0"/>
              </a:spcBef>
              <a:spcAft>
                <a:spcPts val="0"/>
              </a:spcAft>
              <a:buNone/>
            </a:pPr>
            <a:r>
              <a:rPr lang="en" sz="1300" b="1"/>
              <a:t>Linear Regression </a:t>
            </a:r>
            <a:endParaRPr sz="1300" b="1"/>
          </a:p>
          <a:p>
            <a:pPr marL="457200" lvl="0" indent="-311150" algn="l" rtl="0">
              <a:spcBef>
                <a:spcPts val="0"/>
              </a:spcBef>
              <a:spcAft>
                <a:spcPts val="0"/>
              </a:spcAft>
              <a:buSzPts val="1300"/>
              <a:buChar char="●"/>
            </a:pPr>
            <a:r>
              <a:rPr lang="en" sz="1300"/>
              <a:t>Modeled </a:t>
            </a:r>
            <a:r>
              <a:rPr lang="en" sz="1300" i="1"/>
              <a:t>NewPerPos </a:t>
            </a:r>
            <a:r>
              <a:rPr lang="en" sz="1300"/>
              <a:t>using county variables (</a:t>
            </a:r>
            <a:r>
              <a:rPr lang="en" sz="1300" i="1"/>
              <a:t>MedianAge, EverMon, MonNow)</a:t>
            </a:r>
            <a:endParaRPr sz="1300" i="1"/>
          </a:p>
          <a:p>
            <a:pPr marL="457200" lvl="0" indent="-311150" algn="l" rtl="0">
              <a:spcBef>
                <a:spcPts val="0"/>
              </a:spcBef>
              <a:spcAft>
                <a:spcPts val="0"/>
              </a:spcAft>
              <a:buSzPts val="1300"/>
              <a:buChar char="●"/>
            </a:pPr>
            <a:r>
              <a:rPr lang="en" sz="1300"/>
              <a:t>Interpreted predictor relationships and overall model fit </a:t>
            </a:r>
            <a:endParaRPr sz="1300"/>
          </a:p>
          <a:p>
            <a:pPr marL="457200" lvl="0" indent="-311150" algn="l" rtl="0">
              <a:spcBef>
                <a:spcPts val="0"/>
              </a:spcBef>
              <a:spcAft>
                <a:spcPts val="0"/>
              </a:spcAft>
              <a:buSzPts val="1300"/>
              <a:buChar char="●"/>
            </a:pPr>
            <a:r>
              <a:rPr lang="en" sz="1300"/>
              <a:t>Used scatterplots and model outputs for evaluation</a:t>
            </a:r>
            <a:endParaRPr sz="1300"/>
          </a:p>
          <a:p>
            <a:pPr marL="0" lvl="0" indent="0" algn="l" rtl="0">
              <a:spcBef>
                <a:spcPts val="0"/>
              </a:spcBef>
              <a:spcAft>
                <a:spcPts val="0"/>
              </a:spcAft>
              <a:buNone/>
            </a:pPr>
            <a:endParaRPr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8"/>
          <p:cNvSpPr txBox="1">
            <a:spLocks noGrp="1"/>
          </p:cNvSpPr>
          <p:nvPr>
            <p:ph type="title"/>
          </p:nvPr>
        </p:nvSpPr>
        <p:spPr>
          <a:xfrm>
            <a:off x="1216475" y="576825"/>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rgbClr val="0B5394"/>
                </a:solidFill>
              </a:rPr>
              <a:t>Data Cleaning</a:t>
            </a:r>
            <a:endParaRPr sz="2800">
              <a:solidFill>
                <a:srgbClr val="0B5394"/>
              </a:solidFill>
            </a:endParaRPr>
          </a:p>
        </p:txBody>
      </p:sp>
      <p:sp>
        <p:nvSpPr>
          <p:cNvPr id="386" name="Google Shape;386;p48"/>
          <p:cNvSpPr txBox="1">
            <a:spLocks noGrp="1"/>
          </p:cNvSpPr>
          <p:nvPr>
            <p:ph type="subTitle" idx="1"/>
          </p:nvPr>
        </p:nvSpPr>
        <p:spPr>
          <a:xfrm>
            <a:off x="1216475" y="1377100"/>
            <a:ext cx="6152400" cy="306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Twitter Data Cleaning </a:t>
            </a:r>
            <a:endParaRPr b="1"/>
          </a:p>
          <a:p>
            <a:pPr marL="457200" lvl="0" indent="-317500" algn="l" rtl="0">
              <a:spcBef>
                <a:spcPts val="0"/>
              </a:spcBef>
              <a:spcAft>
                <a:spcPts val="0"/>
              </a:spcAft>
              <a:buSzPts val="1400"/>
              <a:buChar char="●"/>
            </a:pPr>
            <a:r>
              <a:rPr lang="en"/>
              <a:t>We removed URLs, emojis, repeated punctuation, and duplicated tweets.</a:t>
            </a:r>
            <a:endParaRPr/>
          </a:p>
          <a:p>
            <a:pPr marL="457200" lvl="0" indent="-317500" algn="l" rtl="0">
              <a:spcBef>
                <a:spcPts val="0"/>
              </a:spcBef>
              <a:spcAft>
                <a:spcPts val="0"/>
              </a:spcAft>
              <a:buSzPts val="1400"/>
              <a:buChar char="●"/>
            </a:pPr>
            <a:r>
              <a:rPr lang="en"/>
              <a:t>Lowercase all text and removed stopwords</a:t>
            </a:r>
            <a:endParaRPr/>
          </a:p>
          <a:p>
            <a:pPr marL="457200" lvl="0" indent="-317500" algn="l" rtl="0">
              <a:spcBef>
                <a:spcPts val="0"/>
              </a:spcBef>
              <a:spcAft>
                <a:spcPts val="0"/>
              </a:spcAft>
              <a:buSzPts val="1400"/>
              <a:buChar char="●"/>
            </a:pPr>
            <a:r>
              <a:rPr lang="en"/>
              <a:t>Combined all three periods and prepared cleaned text for topic modeling and sentiment scoring </a:t>
            </a:r>
            <a:endParaRPr/>
          </a:p>
          <a:p>
            <a:pPr marL="0" lvl="0" indent="0" algn="l" rtl="0">
              <a:spcBef>
                <a:spcPts val="0"/>
              </a:spcBef>
              <a:spcAft>
                <a:spcPts val="0"/>
              </a:spcAft>
              <a:buNone/>
            </a:pPr>
            <a:r>
              <a:rPr lang="en" b="1"/>
              <a:t>Florida County Data Cleaning</a:t>
            </a:r>
            <a:endParaRPr b="1"/>
          </a:p>
          <a:p>
            <a:pPr marL="457200" lvl="0" indent="-317500" algn="l" rtl="0">
              <a:spcBef>
                <a:spcPts val="0"/>
              </a:spcBef>
              <a:spcAft>
                <a:spcPts val="0"/>
              </a:spcAft>
              <a:buSzPts val="1400"/>
              <a:buChar char="●"/>
            </a:pPr>
            <a:r>
              <a:rPr lang="en"/>
              <a:t>Selected the five variables used in the regression </a:t>
            </a:r>
            <a:endParaRPr/>
          </a:p>
          <a:p>
            <a:pPr marL="457200" lvl="0" indent="-317500" algn="l" rtl="0">
              <a:spcBef>
                <a:spcPts val="0"/>
              </a:spcBef>
              <a:spcAft>
                <a:spcPts val="0"/>
              </a:spcAft>
              <a:buSzPts val="1400"/>
              <a:buChar char="●"/>
            </a:pPr>
            <a:r>
              <a:rPr lang="en"/>
              <a:t>Removed missing values to create a complete dataset </a:t>
            </a:r>
            <a:endParaRPr/>
          </a:p>
          <a:p>
            <a:pPr marL="457200" lvl="0" indent="-317500" algn="l" rtl="0">
              <a:spcBef>
                <a:spcPts val="0"/>
              </a:spcBef>
              <a:spcAft>
                <a:spcPts val="0"/>
              </a:spcAft>
              <a:buSzPts val="1400"/>
              <a:buChar char="●"/>
            </a:pPr>
            <a:r>
              <a:rPr lang="en"/>
              <a:t>Ensured predictor variables were numeric and consistent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9"/>
          <p:cNvSpPr txBox="1">
            <a:spLocks noGrp="1"/>
          </p:cNvSpPr>
          <p:nvPr>
            <p:ph type="title"/>
          </p:nvPr>
        </p:nvSpPr>
        <p:spPr>
          <a:xfrm>
            <a:off x="1216475" y="1977150"/>
            <a:ext cx="71994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0B5394"/>
                </a:solidFill>
              </a:rPr>
              <a:t>Exploratory Analysis</a:t>
            </a:r>
            <a:endParaRPr>
              <a:solidFill>
                <a:srgbClr val="0B5394"/>
              </a:solidFill>
            </a:endParaRPr>
          </a:p>
        </p:txBody>
      </p:sp>
      <p:sp>
        <p:nvSpPr>
          <p:cNvPr id="392" name="Google Shape;392;p49"/>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VERONICA VACCARO</a:t>
            </a:r>
            <a:endParaRPr/>
          </a:p>
        </p:txBody>
      </p:sp>
      <p:sp>
        <p:nvSpPr>
          <p:cNvPr id="393" name="Google Shape;393;p49"/>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0"/>
          <p:cNvSpPr txBox="1">
            <a:spLocks noGrp="1"/>
          </p:cNvSpPr>
          <p:nvPr>
            <p:ph type="title"/>
          </p:nvPr>
        </p:nvSpPr>
        <p:spPr>
          <a:xfrm>
            <a:off x="276600" y="264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B5394"/>
                </a:solidFill>
              </a:rPr>
              <a:t>Exploratory Data Analysis with Shiny</a:t>
            </a:r>
            <a:endParaRPr>
              <a:solidFill>
                <a:srgbClr val="0B5394"/>
              </a:solidFill>
            </a:endParaRPr>
          </a:p>
        </p:txBody>
      </p:sp>
      <p:sp>
        <p:nvSpPr>
          <p:cNvPr id="399" name="Google Shape;399;p50"/>
          <p:cNvSpPr txBox="1">
            <a:spLocks noGrp="1"/>
          </p:cNvSpPr>
          <p:nvPr>
            <p:ph type="body" idx="1"/>
          </p:nvPr>
        </p:nvSpPr>
        <p:spPr>
          <a:xfrm>
            <a:off x="454250" y="967725"/>
            <a:ext cx="8136900" cy="2682300"/>
          </a:xfrm>
          <a:prstGeom prst="rect">
            <a:avLst/>
          </a:prstGeom>
        </p:spPr>
        <p:txBody>
          <a:bodyPr spcFirstLastPara="1" wrap="square" lIns="91425" tIns="91425" rIns="91425" bIns="91425" anchor="t" anchorCtr="0">
            <a:noAutofit/>
          </a:bodyPr>
          <a:lstStyle/>
          <a:p>
            <a:pPr marL="457200" lvl="0" indent="-279400" algn="l" rtl="0">
              <a:spcBef>
                <a:spcPts val="0"/>
              </a:spcBef>
              <a:spcAft>
                <a:spcPts val="0"/>
              </a:spcAft>
              <a:buSzPts val="800"/>
              <a:buChar char="●"/>
            </a:pPr>
            <a:r>
              <a:rPr lang="en" b="1"/>
              <a:t>Exploratory Data Analytics (EDA) helps uncover patterns, trends, and relationships in a dataset before applying advanced models.</a:t>
            </a:r>
            <a:endParaRPr b="1"/>
          </a:p>
          <a:p>
            <a:pPr marL="457200" lvl="0" indent="-279400" algn="l" rtl="0">
              <a:spcBef>
                <a:spcPts val="0"/>
              </a:spcBef>
              <a:spcAft>
                <a:spcPts val="0"/>
              </a:spcAft>
              <a:buSzPts val="800"/>
              <a:buChar char="●"/>
            </a:pPr>
            <a:r>
              <a:rPr lang="en" b="1"/>
              <a:t>With R Shiny, this process becomes interactive, allowing users to dynamically explore variables and visualize results in real time.</a:t>
            </a:r>
            <a:endParaRPr b="1"/>
          </a:p>
          <a:p>
            <a:pPr marL="914400" lvl="1" indent="-304800" algn="l" rtl="0">
              <a:spcBef>
                <a:spcPts val="0"/>
              </a:spcBef>
              <a:spcAft>
                <a:spcPts val="0"/>
              </a:spcAft>
              <a:buSzPts val="1200"/>
              <a:buChar char="○"/>
            </a:pPr>
            <a:r>
              <a:rPr lang="en" b="1"/>
              <a:t>Supports understanding of COVID-19 patterns across Florida counties through customizable charts and comparisons.</a:t>
            </a:r>
            <a:endParaRPr b="1"/>
          </a:p>
          <a:p>
            <a:pPr marL="914400" lvl="1" indent="-304800" algn="l" rtl="0">
              <a:spcBef>
                <a:spcPts val="0"/>
              </a:spcBef>
              <a:spcAft>
                <a:spcPts val="0"/>
              </a:spcAft>
              <a:buSzPts val="1200"/>
              <a:buChar char="○"/>
            </a:pPr>
            <a:r>
              <a:rPr lang="en" b="1"/>
              <a:t>Makes data insights accessible without manual coding. Users can select metrics, compare variables, and visualize distributions.</a:t>
            </a:r>
            <a:endParaRPr b="1"/>
          </a:p>
          <a:p>
            <a:pPr marL="457200" lvl="0" indent="-279400" algn="l" rtl="0">
              <a:spcBef>
                <a:spcPts val="0"/>
              </a:spcBef>
              <a:spcAft>
                <a:spcPts val="0"/>
              </a:spcAft>
              <a:buSzPts val="800"/>
              <a:buChar char="●"/>
            </a:pPr>
            <a:r>
              <a:rPr lang="en" b="1"/>
              <a:t>This analysis reveals which counties have the highest infection rates, how positivity varies with age and deaths, and whether the population factors relate to case severity.</a:t>
            </a:r>
            <a:endParaRPr b="1"/>
          </a:p>
        </p:txBody>
      </p:sp>
      <p:sp>
        <p:nvSpPr>
          <p:cNvPr id="400" name="Google Shape;400;p50"/>
          <p:cNvSpPr txBox="1"/>
          <p:nvPr/>
        </p:nvSpPr>
        <p:spPr>
          <a:xfrm>
            <a:off x="543288" y="3715975"/>
            <a:ext cx="7334400" cy="85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01" name="Google Shape;401;p50"/>
          <p:cNvSpPr/>
          <p:nvPr/>
        </p:nvSpPr>
        <p:spPr>
          <a:xfrm>
            <a:off x="319813" y="4002173"/>
            <a:ext cx="2128500" cy="572700"/>
          </a:xfrm>
          <a:prstGeom prst="homePlate">
            <a:avLst>
              <a:gd name="adj" fmla="val 50000"/>
            </a:avLst>
          </a:prstGeom>
          <a:solidFill>
            <a:srgbClr val="1C4587"/>
          </a:solidFill>
          <a:ln>
            <a:noFill/>
          </a:ln>
        </p:spPr>
        <p:txBody>
          <a:bodyPr spcFirstLastPara="1" wrap="square" lIns="91625" tIns="91625" rIns="91625" bIns="91625" anchor="ctr" anchorCtr="0">
            <a:noAutofit/>
          </a:bodyPr>
          <a:lstStyle/>
          <a:p>
            <a:pPr marL="0" lvl="0" indent="0" algn="ctr" rtl="0">
              <a:spcBef>
                <a:spcPts val="0"/>
              </a:spcBef>
              <a:spcAft>
                <a:spcPts val="0"/>
              </a:spcAft>
              <a:buNone/>
            </a:pPr>
            <a:r>
              <a:rPr lang="en" sz="1403">
                <a:solidFill>
                  <a:srgbClr val="FFFFFF"/>
                </a:solidFill>
                <a:latin typeface="Roboto"/>
                <a:ea typeface="Roboto"/>
                <a:cs typeface="Roboto"/>
                <a:sym typeface="Roboto"/>
              </a:rPr>
              <a:t>Load and Clean Data</a:t>
            </a:r>
            <a:endParaRPr sz="1403">
              <a:solidFill>
                <a:srgbClr val="FFFFFF"/>
              </a:solidFill>
              <a:latin typeface="Roboto"/>
              <a:ea typeface="Roboto"/>
              <a:cs typeface="Roboto"/>
              <a:sym typeface="Roboto"/>
            </a:endParaRPr>
          </a:p>
        </p:txBody>
      </p:sp>
      <p:sp>
        <p:nvSpPr>
          <p:cNvPr id="402" name="Google Shape;402;p50"/>
          <p:cNvSpPr/>
          <p:nvPr/>
        </p:nvSpPr>
        <p:spPr>
          <a:xfrm>
            <a:off x="2144239" y="4002175"/>
            <a:ext cx="1878300" cy="572700"/>
          </a:xfrm>
          <a:prstGeom prst="chevron">
            <a:avLst>
              <a:gd name="adj" fmla="val 50000"/>
            </a:avLst>
          </a:prstGeom>
          <a:solidFill>
            <a:srgbClr val="1155CC"/>
          </a:solidFill>
          <a:ln>
            <a:noFill/>
          </a:ln>
        </p:spPr>
        <p:txBody>
          <a:bodyPr spcFirstLastPara="1" wrap="square" lIns="91625" tIns="91625" rIns="91625" bIns="91625" anchor="ctr" anchorCtr="0">
            <a:noAutofit/>
          </a:bodyPr>
          <a:lstStyle/>
          <a:p>
            <a:pPr marL="0" lvl="0" indent="0" algn="ctr" rtl="0">
              <a:spcBef>
                <a:spcPts val="0"/>
              </a:spcBef>
              <a:spcAft>
                <a:spcPts val="0"/>
              </a:spcAft>
              <a:buNone/>
            </a:pPr>
            <a:r>
              <a:rPr lang="en" sz="1403">
                <a:solidFill>
                  <a:srgbClr val="FFFFFF"/>
                </a:solidFill>
                <a:latin typeface="Roboto"/>
                <a:ea typeface="Roboto"/>
                <a:cs typeface="Roboto"/>
                <a:sym typeface="Roboto"/>
              </a:rPr>
              <a:t>Select Metrics</a:t>
            </a:r>
            <a:endParaRPr sz="1403">
              <a:solidFill>
                <a:srgbClr val="FFFFFF"/>
              </a:solidFill>
              <a:latin typeface="Roboto"/>
              <a:ea typeface="Roboto"/>
              <a:cs typeface="Roboto"/>
              <a:sym typeface="Roboto"/>
            </a:endParaRPr>
          </a:p>
        </p:txBody>
      </p:sp>
      <p:sp>
        <p:nvSpPr>
          <p:cNvPr id="403" name="Google Shape;403;p50"/>
          <p:cNvSpPr/>
          <p:nvPr/>
        </p:nvSpPr>
        <p:spPr>
          <a:xfrm>
            <a:off x="3737013" y="4002175"/>
            <a:ext cx="1878300" cy="572700"/>
          </a:xfrm>
          <a:prstGeom prst="chevron">
            <a:avLst>
              <a:gd name="adj" fmla="val 50000"/>
            </a:avLst>
          </a:prstGeom>
          <a:solidFill>
            <a:srgbClr val="3C78D8"/>
          </a:solidFill>
          <a:ln>
            <a:noFill/>
          </a:ln>
        </p:spPr>
        <p:txBody>
          <a:bodyPr spcFirstLastPara="1" wrap="square" lIns="91625" tIns="91625" rIns="91625" bIns="91625" anchor="ctr" anchorCtr="0">
            <a:noAutofit/>
          </a:bodyPr>
          <a:lstStyle/>
          <a:p>
            <a:pPr marL="0" lvl="0" indent="0" algn="ctr" rtl="0">
              <a:spcBef>
                <a:spcPts val="0"/>
              </a:spcBef>
              <a:spcAft>
                <a:spcPts val="0"/>
              </a:spcAft>
              <a:buNone/>
            </a:pPr>
            <a:r>
              <a:rPr lang="en" sz="1403">
                <a:solidFill>
                  <a:srgbClr val="FFFFFF"/>
                </a:solidFill>
                <a:latin typeface="Roboto"/>
                <a:ea typeface="Roboto"/>
                <a:cs typeface="Roboto"/>
                <a:sym typeface="Roboto"/>
              </a:rPr>
              <a:t>Visualize Patterns</a:t>
            </a:r>
            <a:endParaRPr sz="1403">
              <a:solidFill>
                <a:srgbClr val="FFFFFF"/>
              </a:solidFill>
              <a:latin typeface="Roboto"/>
              <a:ea typeface="Roboto"/>
              <a:cs typeface="Roboto"/>
              <a:sym typeface="Roboto"/>
            </a:endParaRPr>
          </a:p>
        </p:txBody>
      </p:sp>
      <p:sp>
        <p:nvSpPr>
          <p:cNvPr id="404" name="Google Shape;404;p50"/>
          <p:cNvSpPr/>
          <p:nvPr/>
        </p:nvSpPr>
        <p:spPr>
          <a:xfrm>
            <a:off x="6972712" y="4002175"/>
            <a:ext cx="1878300" cy="572700"/>
          </a:xfrm>
          <a:prstGeom prst="chevron">
            <a:avLst>
              <a:gd name="adj" fmla="val 50000"/>
            </a:avLst>
          </a:prstGeom>
          <a:solidFill>
            <a:srgbClr val="A4C2F4"/>
          </a:solidFill>
          <a:ln>
            <a:noFill/>
          </a:ln>
        </p:spPr>
        <p:txBody>
          <a:bodyPr spcFirstLastPara="1" wrap="square" lIns="91625" tIns="91625" rIns="91625" bIns="91625" anchor="ctr" anchorCtr="0">
            <a:noAutofit/>
          </a:bodyPr>
          <a:lstStyle/>
          <a:p>
            <a:pPr marL="0" lvl="0" indent="0" algn="ctr" rtl="0">
              <a:spcBef>
                <a:spcPts val="0"/>
              </a:spcBef>
              <a:spcAft>
                <a:spcPts val="0"/>
              </a:spcAft>
              <a:buNone/>
            </a:pPr>
            <a:r>
              <a:rPr lang="en" sz="1403">
                <a:solidFill>
                  <a:srgbClr val="FFFFFF"/>
                </a:solidFill>
                <a:latin typeface="Roboto"/>
                <a:ea typeface="Roboto"/>
                <a:cs typeface="Roboto"/>
                <a:sym typeface="Roboto"/>
              </a:rPr>
              <a:t>Interpret Insights</a:t>
            </a:r>
            <a:endParaRPr sz="1403">
              <a:solidFill>
                <a:srgbClr val="FFFFFF"/>
              </a:solidFill>
              <a:latin typeface="Roboto"/>
              <a:ea typeface="Roboto"/>
              <a:cs typeface="Roboto"/>
              <a:sym typeface="Roboto"/>
            </a:endParaRPr>
          </a:p>
        </p:txBody>
      </p:sp>
      <p:sp>
        <p:nvSpPr>
          <p:cNvPr id="405" name="Google Shape;405;p50"/>
          <p:cNvSpPr/>
          <p:nvPr/>
        </p:nvSpPr>
        <p:spPr>
          <a:xfrm>
            <a:off x="5315388" y="4002175"/>
            <a:ext cx="1952400" cy="572700"/>
          </a:xfrm>
          <a:prstGeom prst="chevron">
            <a:avLst>
              <a:gd name="adj" fmla="val 50000"/>
            </a:avLst>
          </a:prstGeom>
          <a:solidFill>
            <a:srgbClr val="6D9EEB"/>
          </a:solidFill>
          <a:ln>
            <a:noFill/>
          </a:ln>
        </p:spPr>
        <p:txBody>
          <a:bodyPr spcFirstLastPara="1" wrap="square" lIns="91625" tIns="91625" rIns="91625" bIns="91625" anchor="ctr" anchorCtr="0">
            <a:noAutofit/>
          </a:bodyPr>
          <a:lstStyle/>
          <a:p>
            <a:pPr marL="0" lvl="0" indent="0" algn="ctr" rtl="0">
              <a:spcBef>
                <a:spcPts val="0"/>
              </a:spcBef>
              <a:spcAft>
                <a:spcPts val="0"/>
              </a:spcAft>
              <a:buNone/>
            </a:pPr>
            <a:r>
              <a:rPr lang="en" sz="1403">
                <a:solidFill>
                  <a:srgbClr val="FFFFFF"/>
                </a:solidFill>
                <a:latin typeface="Roboto"/>
                <a:ea typeface="Roboto"/>
                <a:cs typeface="Roboto"/>
                <a:sym typeface="Roboto"/>
              </a:rPr>
              <a:t>Compare Variables</a:t>
            </a:r>
            <a:endParaRPr sz="1403">
              <a:solidFill>
                <a:srgbClr val="FFFFFF"/>
              </a:solidFill>
              <a:latin typeface="Roboto"/>
              <a:ea typeface="Roboto"/>
              <a:cs typeface="Roboto"/>
              <a:sym typeface="Roboto"/>
            </a:endParaRPr>
          </a:p>
        </p:txBody>
      </p:sp>
      <p:pic>
        <p:nvPicPr>
          <p:cNvPr id="406" name="Google Shape;406;p50" title="Slide 1.mp3">
            <a:hlinkClick r:id="rId3"/>
          </p:cNvPr>
          <p:cNvPicPr preferRelativeResize="0"/>
          <p:nvPr/>
        </p:nvPicPr>
        <p:blipFill>
          <a:blip r:embed="rId4">
            <a:alphaModFix/>
          </a:blip>
          <a:stretch>
            <a:fillRect/>
          </a:stretch>
        </p:blipFill>
        <p:spPr>
          <a:xfrm>
            <a:off x="8515825" y="351748"/>
            <a:ext cx="263827" cy="2638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51"/>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B5394"/>
                </a:solidFill>
              </a:rPr>
              <a:t>Workflow</a:t>
            </a:r>
            <a:endParaRPr>
              <a:solidFill>
                <a:srgbClr val="0B5394"/>
              </a:solidFill>
            </a:endParaRPr>
          </a:p>
        </p:txBody>
      </p:sp>
      <p:sp>
        <p:nvSpPr>
          <p:cNvPr id="412" name="Google Shape;412;p51"/>
          <p:cNvSpPr txBox="1">
            <a:spLocks noGrp="1"/>
          </p:cNvSpPr>
          <p:nvPr>
            <p:ph type="subTitle" idx="1"/>
          </p:nvPr>
        </p:nvSpPr>
        <p:spPr>
          <a:xfrm>
            <a:off x="1259475" y="1259025"/>
            <a:ext cx="7425600" cy="530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Imported Florida COVID-19 county dataset (filtered out invalid rows like “A State”)</a:t>
            </a:r>
            <a:endParaRPr/>
          </a:p>
          <a:p>
            <a:pPr marL="457200" lvl="0" indent="-317500" algn="l" rtl="0">
              <a:spcBef>
                <a:spcPts val="0"/>
              </a:spcBef>
              <a:spcAft>
                <a:spcPts val="0"/>
              </a:spcAft>
              <a:buSzPts val="1400"/>
              <a:buChar char="●"/>
            </a:pPr>
            <a:r>
              <a:rPr lang="en"/>
              <a:t>Selected Key variables (cases, deaths, testing, monitoring, age)</a:t>
            </a:r>
            <a:endParaRPr/>
          </a:p>
          <a:p>
            <a:pPr marL="457200" lvl="0" indent="-317500" algn="l" rtl="0">
              <a:spcBef>
                <a:spcPts val="0"/>
              </a:spcBef>
              <a:spcAft>
                <a:spcPts val="0"/>
              </a:spcAft>
              <a:buSzPts val="1400"/>
              <a:buChar char="●"/>
            </a:pPr>
            <a:r>
              <a:rPr lang="en"/>
              <a:t>Removed missing values using na.omit()</a:t>
            </a:r>
            <a:endParaRPr/>
          </a:p>
        </p:txBody>
      </p:sp>
      <p:sp>
        <p:nvSpPr>
          <p:cNvPr id="413" name="Google Shape;413;p51"/>
          <p:cNvSpPr txBox="1">
            <a:spLocks noGrp="1"/>
          </p:cNvSpPr>
          <p:nvPr>
            <p:ph type="subTitle" idx="2"/>
          </p:nvPr>
        </p:nvSpPr>
        <p:spPr>
          <a:xfrm>
            <a:off x="1265400" y="2291863"/>
            <a:ext cx="7161900" cy="5277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Created dropdowns and sliders for dynamic metric selection</a:t>
            </a:r>
            <a:endParaRPr/>
          </a:p>
          <a:p>
            <a:pPr marL="457200" lvl="0" indent="-317500" algn="l" rtl="0">
              <a:spcBef>
                <a:spcPts val="0"/>
              </a:spcBef>
              <a:spcAft>
                <a:spcPts val="0"/>
              </a:spcAft>
              <a:buSzPts val="1400"/>
              <a:buChar char="●"/>
            </a:pPr>
            <a:r>
              <a:rPr lang="en"/>
              <a:t>Set up tabs for:</a:t>
            </a:r>
            <a:endParaRPr/>
          </a:p>
          <a:p>
            <a:pPr marL="914400" lvl="1" indent="-317500" algn="l" rtl="0">
              <a:spcBef>
                <a:spcPts val="0"/>
              </a:spcBef>
              <a:spcAft>
                <a:spcPts val="0"/>
              </a:spcAft>
              <a:buSzPts val="1400"/>
              <a:buChar char="○"/>
            </a:pPr>
            <a:r>
              <a:rPr lang="en"/>
              <a:t>Overview - top counties by chosen metric</a:t>
            </a:r>
            <a:endParaRPr/>
          </a:p>
          <a:p>
            <a:pPr marL="914400" lvl="1" indent="-317500" algn="l" rtl="0">
              <a:spcBef>
                <a:spcPts val="0"/>
              </a:spcBef>
              <a:spcAft>
                <a:spcPts val="0"/>
              </a:spcAft>
              <a:buSzPts val="1400"/>
              <a:buChar char="○"/>
            </a:pPr>
            <a:r>
              <a:rPr lang="en"/>
              <a:t>Distribution - histogram + density curve</a:t>
            </a:r>
            <a:endParaRPr/>
          </a:p>
          <a:p>
            <a:pPr marL="914400" lvl="1" indent="-317500" algn="l" rtl="0">
              <a:spcBef>
                <a:spcPts val="0"/>
              </a:spcBef>
              <a:spcAft>
                <a:spcPts val="0"/>
              </a:spcAft>
              <a:buSzPts val="1400"/>
              <a:buChar char="○"/>
            </a:pPr>
            <a:r>
              <a:rPr lang="en"/>
              <a:t>Compare - scatter plot comparing two metrics</a:t>
            </a:r>
            <a:endParaRPr/>
          </a:p>
        </p:txBody>
      </p:sp>
      <p:sp>
        <p:nvSpPr>
          <p:cNvPr id="414" name="Google Shape;414;p51"/>
          <p:cNvSpPr txBox="1">
            <a:spLocks noGrp="1"/>
          </p:cNvSpPr>
          <p:nvPr>
            <p:ph type="subTitle" idx="3"/>
          </p:nvPr>
        </p:nvSpPr>
        <p:spPr>
          <a:xfrm>
            <a:off x="1265400" y="3737275"/>
            <a:ext cx="7161900" cy="5277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Users can choose:</a:t>
            </a:r>
            <a:endParaRPr/>
          </a:p>
          <a:p>
            <a:pPr marL="914400" lvl="1" indent="-317500" algn="l" rtl="0">
              <a:spcBef>
                <a:spcPts val="0"/>
              </a:spcBef>
              <a:spcAft>
                <a:spcPts val="0"/>
              </a:spcAft>
              <a:buSzPts val="1400"/>
              <a:buChar char="○"/>
            </a:pPr>
            <a:r>
              <a:rPr lang="en"/>
              <a:t> metric to explore (deaths, new percent positive, etc),</a:t>
            </a:r>
            <a:endParaRPr/>
          </a:p>
          <a:p>
            <a:pPr marL="914400" lvl="1" indent="-317500" algn="l" rtl="0">
              <a:spcBef>
                <a:spcPts val="0"/>
              </a:spcBef>
              <a:spcAft>
                <a:spcPts val="0"/>
              </a:spcAft>
              <a:buSzPts val="1400"/>
              <a:buChar char="○"/>
            </a:pPr>
            <a:r>
              <a:rPr lang="en"/>
              <a:t> X/Y variables to compare, </a:t>
            </a:r>
            <a:endParaRPr/>
          </a:p>
          <a:p>
            <a:pPr marL="914400" lvl="1" indent="-317500" algn="l" rtl="0">
              <a:spcBef>
                <a:spcPts val="0"/>
              </a:spcBef>
              <a:spcAft>
                <a:spcPts val="0"/>
              </a:spcAft>
              <a:buSzPts val="1400"/>
              <a:buChar char="○"/>
            </a:pPr>
            <a:r>
              <a:rPr lang="en"/>
              <a:t>Point size/color to add dimensions </a:t>
            </a:r>
            <a:endParaRPr/>
          </a:p>
        </p:txBody>
      </p:sp>
      <p:sp>
        <p:nvSpPr>
          <p:cNvPr id="415" name="Google Shape;415;p51"/>
          <p:cNvSpPr txBox="1">
            <a:spLocks noGrp="1"/>
          </p:cNvSpPr>
          <p:nvPr>
            <p:ph type="subTitle" idx="4"/>
          </p:nvPr>
        </p:nvSpPr>
        <p:spPr>
          <a:xfrm>
            <a:off x="1265400" y="955225"/>
            <a:ext cx="6613200" cy="530400"/>
          </a:xfrm>
          <a:prstGeom prst="rect">
            <a:avLst/>
          </a:prstGeom>
          <a:ln w="9525" cap="flat" cmpd="sng">
            <a:solidFill>
              <a:srgbClr val="3C77D8"/>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sz="1700">
                <a:solidFill>
                  <a:srgbClr val="3C78D8"/>
                </a:solidFill>
              </a:rPr>
              <a:t>Preparing the data</a:t>
            </a:r>
            <a:endParaRPr sz="1700"/>
          </a:p>
        </p:txBody>
      </p:sp>
      <p:sp>
        <p:nvSpPr>
          <p:cNvPr id="416" name="Google Shape;416;p51"/>
          <p:cNvSpPr txBox="1">
            <a:spLocks noGrp="1"/>
          </p:cNvSpPr>
          <p:nvPr>
            <p:ph type="subTitle" idx="5"/>
          </p:nvPr>
        </p:nvSpPr>
        <p:spPr>
          <a:xfrm>
            <a:off x="1262075" y="1970250"/>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700">
                <a:solidFill>
                  <a:srgbClr val="3C78D8"/>
                </a:solidFill>
              </a:rPr>
              <a:t>Building the Shiny App</a:t>
            </a:r>
            <a:endParaRPr sz="1700">
              <a:solidFill>
                <a:srgbClr val="3C78D8"/>
              </a:solidFill>
            </a:endParaRPr>
          </a:p>
        </p:txBody>
      </p:sp>
      <p:sp>
        <p:nvSpPr>
          <p:cNvPr id="417" name="Google Shape;417;p51"/>
          <p:cNvSpPr txBox="1">
            <a:spLocks noGrp="1"/>
          </p:cNvSpPr>
          <p:nvPr>
            <p:ph type="subTitle" idx="6"/>
          </p:nvPr>
        </p:nvSpPr>
        <p:spPr>
          <a:xfrm>
            <a:off x="1262075" y="3450476"/>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700">
                <a:solidFill>
                  <a:srgbClr val="3C78D8"/>
                </a:solidFill>
              </a:rPr>
              <a:t>Interacting with the data</a:t>
            </a:r>
            <a:endParaRPr sz="1700">
              <a:solidFill>
                <a:srgbClr val="3C78D8"/>
              </a:solidFill>
            </a:endParaRPr>
          </a:p>
        </p:txBody>
      </p:sp>
      <p:grpSp>
        <p:nvGrpSpPr>
          <p:cNvPr id="418" name="Google Shape;418;p51"/>
          <p:cNvGrpSpPr/>
          <p:nvPr/>
        </p:nvGrpSpPr>
        <p:grpSpPr>
          <a:xfrm>
            <a:off x="951242" y="1370107"/>
            <a:ext cx="308234" cy="308234"/>
            <a:chOff x="1487200" y="4993750"/>
            <a:chExt cx="483125" cy="483125"/>
          </a:xfrm>
        </p:grpSpPr>
        <p:sp>
          <p:nvSpPr>
            <p:cNvPr id="419" name="Google Shape;419;p51"/>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C9D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0" name="Google Shape;420;p51"/>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C9D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21" name="Google Shape;421;p51"/>
          <p:cNvGrpSpPr/>
          <p:nvPr/>
        </p:nvGrpSpPr>
        <p:grpSpPr>
          <a:xfrm>
            <a:off x="951253" y="2497954"/>
            <a:ext cx="308234" cy="308234"/>
            <a:chOff x="1487200" y="4993750"/>
            <a:chExt cx="483125" cy="483125"/>
          </a:xfrm>
        </p:grpSpPr>
        <p:sp>
          <p:nvSpPr>
            <p:cNvPr id="422" name="Google Shape;422;p51"/>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C9D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3" name="Google Shape;423;p51"/>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C9D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24" name="Google Shape;424;p51"/>
          <p:cNvGrpSpPr/>
          <p:nvPr/>
        </p:nvGrpSpPr>
        <p:grpSpPr>
          <a:xfrm>
            <a:off x="951253" y="3625804"/>
            <a:ext cx="308234" cy="308234"/>
            <a:chOff x="1487200" y="4993750"/>
            <a:chExt cx="483125" cy="483125"/>
          </a:xfrm>
        </p:grpSpPr>
        <p:sp>
          <p:nvSpPr>
            <p:cNvPr id="425" name="Google Shape;425;p51"/>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C9D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6" name="Google Shape;426;p51"/>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C9D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pic>
        <p:nvPicPr>
          <p:cNvPr id="427" name="Google Shape;427;p51" title="Slide 2.mp3">
            <a:hlinkClick r:id="rId3"/>
          </p:cNvPr>
          <p:cNvPicPr preferRelativeResize="0"/>
          <p:nvPr/>
        </p:nvPicPr>
        <p:blipFill>
          <a:blip r:embed="rId4">
            <a:alphaModFix/>
          </a:blip>
          <a:stretch>
            <a:fillRect/>
          </a:stretch>
        </p:blipFill>
        <p:spPr>
          <a:xfrm>
            <a:off x="8424125" y="277775"/>
            <a:ext cx="423975" cy="423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2"/>
          <p:cNvSpPr txBox="1">
            <a:spLocks noGrp="1"/>
          </p:cNvSpPr>
          <p:nvPr>
            <p:ph type="title"/>
          </p:nvPr>
        </p:nvSpPr>
        <p:spPr>
          <a:xfrm>
            <a:off x="276600" y="264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B5394"/>
                </a:solidFill>
              </a:rPr>
              <a:t>Top 25 Counties</a:t>
            </a:r>
            <a:endParaRPr>
              <a:solidFill>
                <a:srgbClr val="0B5394"/>
              </a:solidFill>
            </a:endParaRPr>
          </a:p>
        </p:txBody>
      </p:sp>
      <p:sp>
        <p:nvSpPr>
          <p:cNvPr id="433" name="Google Shape;433;p52"/>
          <p:cNvSpPr txBox="1">
            <a:spLocks noGrp="1"/>
          </p:cNvSpPr>
          <p:nvPr>
            <p:ph type="body" idx="1"/>
          </p:nvPr>
        </p:nvSpPr>
        <p:spPr>
          <a:xfrm>
            <a:off x="276600" y="3009175"/>
            <a:ext cx="8616300" cy="19011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sz="1500" b="1"/>
              <a:t>Total positives are highest in big, urban counties (Dade, Broward, Palm Beach),</a:t>
            </a:r>
            <a:endParaRPr sz="1500" b="1"/>
          </a:p>
          <a:p>
            <a:pPr marL="914400" lvl="1" indent="-323850" algn="l" rtl="0">
              <a:spcBef>
                <a:spcPts val="0"/>
              </a:spcBef>
              <a:spcAft>
                <a:spcPts val="0"/>
              </a:spcAft>
              <a:buSzPts val="1500"/>
              <a:buChar char="○"/>
            </a:pPr>
            <a:r>
              <a:rPr lang="en" sz="1500" b="1"/>
              <a:t>Reflecting population size and extensive testing</a:t>
            </a:r>
            <a:endParaRPr sz="1500" b="1"/>
          </a:p>
          <a:p>
            <a:pPr marL="457200" lvl="0" indent="-323850" algn="l" rtl="0">
              <a:spcBef>
                <a:spcPts val="0"/>
              </a:spcBef>
              <a:spcAft>
                <a:spcPts val="0"/>
              </a:spcAft>
              <a:buSzPts val="1500"/>
              <a:buChar char="●"/>
            </a:pPr>
            <a:r>
              <a:rPr lang="en" sz="1500" b="1"/>
              <a:t>New percent positive highlights smaller or rural counties (Glades, Okaloosa, Franklin)</a:t>
            </a:r>
            <a:endParaRPr sz="1500" b="1"/>
          </a:p>
          <a:p>
            <a:pPr marL="914400" lvl="1" indent="-323850" algn="l" rtl="0">
              <a:spcBef>
                <a:spcPts val="0"/>
              </a:spcBef>
              <a:spcAft>
                <a:spcPts val="0"/>
              </a:spcAft>
              <a:buSzPts val="1500"/>
              <a:buChar char="○"/>
            </a:pPr>
            <a:r>
              <a:rPr lang="en" sz="1500" b="1"/>
              <a:t>Suggesting local outbreak surges or limited testing capacity (few people being tested but many positive)</a:t>
            </a:r>
            <a:endParaRPr sz="1500" b="1"/>
          </a:p>
          <a:p>
            <a:pPr marL="457200" lvl="0" indent="-323850" algn="l" rtl="0">
              <a:spcBef>
                <a:spcPts val="0"/>
              </a:spcBef>
              <a:spcAft>
                <a:spcPts val="0"/>
              </a:spcAft>
              <a:buSzPts val="1500"/>
              <a:buChar char="●"/>
            </a:pPr>
            <a:r>
              <a:rPr lang="en" sz="1500" b="1"/>
              <a:t>Larger counties show lower percent positive because they conduct more tests</a:t>
            </a:r>
            <a:endParaRPr sz="1500" b="1"/>
          </a:p>
        </p:txBody>
      </p:sp>
      <p:pic>
        <p:nvPicPr>
          <p:cNvPr id="434" name="Google Shape;434;p52"/>
          <p:cNvPicPr preferRelativeResize="0"/>
          <p:nvPr/>
        </p:nvPicPr>
        <p:blipFill rotWithShape="1">
          <a:blip r:embed="rId3">
            <a:alphaModFix/>
          </a:blip>
          <a:srcRect l="33814" t="12498" b="38351"/>
          <a:stretch/>
        </p:blipFill>
        <p:spPr>
          <a:xfrm>
            <a:off x="276600" y="837075"/>
            <a:ext cx="2925775" cy="2172100"/>
          </a:xfrm>
          <a:prstGeom prst="rect">
            <a:avLst/>
          </a:prstGeom>
          <a:noFill/>
          <a:ln>
            <a:noFill/>
          </a:ln>
        </p:spPr>
      </p:pic>
      <p:pic>
        <p:nvPicPr>
          <p:cNvPr id="435" name="Google Shape;435;p52"/>
          <p:cNvPicPr preferRelativeResize="0"/>
          <p:nvPr/>
        </p:nvPicPr>
        <p:blipFill>
          <a:blip r:embed="rId4">
            <a:alphaModFix/>
          </a:blip>
          <a:stretch>
            <a:fillRect/>
          </a:stretch>
        </p:blipFill>
        <p:spPr>
          <a:xfrm>
            <a:off x="3126467" y="837075"/>
            <a:ext cx="3001683" cy="2024650"/>
          </a:xfrm>
          <a:prstGeom prst="rect">
            <a:avLst/>
          </a:prstGeom>
          <a:noFill/>
          <a:ln>
            <a:noFill/>
          </a:ln>
        </p:spPr>
      </p:pic>
      <p:pic>
        <p:nvPicPr>
          <p:cNvPr id="436" name="Google Shape;436;p52"/>
          <p:cNvPicPr preferRelativeResize="0"/>
          <p:nvPr/>
        </p:nvPicPr>
        <p:blipFill>
          <a:blip r:embed="rId5">
            <a:alphaModFix/>
          </a:blip>
          <a:stretch>
            <a:fillRect/>
          </a:stretch>
        </p:blipFill>
        <p:spPr>
          <a:xfrm>
            <a:off x="6128150" y="837075"/>
            <a:ext cx="2764845" cy="2024650"/>
          </a:xfrm>
          <a:prstGeom prst="rect">
            <a:avLst/>
          </a:prstGeom>
          <a:noFill/>
          <a:ln>
            <a:noFill/>
          </a:ln>
        </p:spPr>
      </p:pic>
      <p:pic>
        <p:nvPicPr>
          <p:cNvPr id="437" name="Google Shape;437;p52" title="Slide 3.mp3">
            <a:hlinkClick r:id="rId6"/>
          </p:cNvPr>
          <p:cNvPicPr preferRelativeResize="0"/>
          <p:nvPr/>
        </p:nvPicPr>
        <p:blipFill>
          <a:blip r:embed="rId7">
            <a:alphaModFix/>
          </a:blip>
          <a:stretch>
            <a:fillRect/>
          </a:stretch>
        </p:blipFill>
        <p:spPr>
          <a:xfrm>
            <a:off x="8289125" y="322125"/>
            <a:ext cx="457200" cy="457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53"/>
          <p:cNvSpPr txBox="1">
            <a:spLocks noGrp="1"/>
          </p:cNvSpPr>
          <p:nvPr>
            <p:ph type="title"/>
          </p:nvPr>
        </p:nvSpPr>
        <p:spPr>
          <a:xfrm>
            <a:off x="407975"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B5394"/>
                </a:solidFill>
              </a:rPr>
              <a:t>Comparing Different Metrics by County</a:t>
            </a:r>
            <a:endParaRPr>
              <a:solidFill>
                <a:srgbClr val="0B5394"/>
              </a:solidFill>
            </a:endParaRPr>
          </a:p>
        </p:txBody>
      </p:sp>
      <p:sp>
        <p:nvSpPr>
          <p:cNvPr id="443" name="Google Shape;443;p53"/>
          <p:cNvSpPr txBox="1">
            <a:spLocks noGrp="1"/>
          </p:cNvSpPr>
          <p:nvPr>
            <p:ph type="body" idx="1"/>
          </p:nvPr>
        </p:nvSpPr>
        <p:spPr>
          <a:xfrm>
            <a:off x="3964400" y="1090075"/>
            <a:ext cx="4931700" cy="3631200"/>
          </a:xfrm>
          <a:prstGeom prst="rect">
            <a:avLst/>
          </a:prstGeom>
        </p:spPr>
        <p:txBody>
          <a:bodyPr spcFirstLastPara="1" wrap="square" lIns="91425" tIns="91425" rIns="91425" bIns="91425" anchor="t" anchorCtr="0">
            <a:noAutofit/>
          </a:bodyPr>
          <a:lstStyle/>
          <a:p>
            <a:pPr marL="457200" lvl="0" indent="-279400" algn="l" rtl="0">
              <a:spcBef>
                <a:spcPts val="0"/>
              </a:spcBef>
              <a:spcAft>
                <a:spcPts val="0"/>
              </a:spcAft>
              <a:buSzPts val="800"/>
              <a:buChar char="●"/>
            </a:pPr>
            <a:r>
              <a:rPr lang="en" b="1"/>
              <a:t>Most counties cluster around a median age of 35- 45 </a:t>
            </a:r>
            <a:endParaRPr b="1"/>
          </a:p>
          <a:p>
            <a:pPr marL="914400" lvl="1" indent="-304800" algn="l" rtl="0">
              <a:spcBef>
                <a:spcPts val="0"/>
              </a:spcBef>
              <a:spcAft>
                <a:spcPts val="0"/>
              </a:spcAft>
              <a:buSzPts val="1200"/>
              <a:buChar char="○"/>
            </a:pPr>
            <a:r>
              <a:rPr lang="en" b="1"/>
              <a:t>These counties generally show moderate death counts and moderate new positives.</a:t>
            </a:r>
            <a:endParaRPr b="1"/>
          </a:p>
          <a:p>
            <a:pPr marL="457200" lvl="0" indent="-279400" algn="l" rtl="0">
              <a:spcBef>
                <a:spcPts val="0"/>
              </a:spcBef>
              <a:spcAft>
                <a:spcPts val="0"/>
              </a:spcAft>
              <a:buSzPts val="800"/>
              <a:buChar char="●"/>
            </a:pPr>
            <a:r>
              <a:rPr lang="en" b="1"/>
              <a:t>Counties with highest deaths tend to have slightly older mean ages, many new positives,  higher positivity rates.</a:t>
            </a:r>
            <a:endParaRPr b="1"/>
          </a:p>
          <a:p>
            <a:pPr marL="914400" lvl="1" indent="-304800" algn="l" rtl="0">
              <a:spcBef>
                <a:spcPts val="0"/>
              </a:spcBef>
              <a:spcAft>
                <a:spcPts val="0"/>
              </a:spcAft>
              <a:buSzPts val="1200"/>
              <a:buChar char="○"/>
            </a:pPr>
            <a:r>
              <a:rPr lang="en" b="1"/>
              <a:t>This suggests that older, more populous counties experienced both higher spread and higher mortality.</a:t>
            </a:r>
            <a:endParaRPr b="1"/>
          </a:p>
          <a:p>
            <a:pPr marL="457200" lvl="0" indent="-279400" algn="l" rtl="0">
              <a:spcBef>
                <a:spcPts val="0"/>
              </a:spcBef>
              <a:spcAft>
                <a:spcPts val="0"/>
              </a:spcAft>
              <a:buSzPts val="800"/>
              <a:buChar char="●"/>
            </a:pPr>
            <a:r>
              <a:rPr lang="en" b="1"/>
              <a:t>Younger counties generally had fewer deaths and fewer cases overall.</a:t>
            </a:r>
            <a:endParaRPr b="1"/>
          </a:p>
          <a:p>
            <a:pPr marL="457200" lvl="0" indent="-279400" algn="l" rtl="0">
              <a:spcBef>
                <a:spcPts val="0"/>
              </a:spcBef>
              <a:spcAft>
                <a:spcPts val="0"/>
              </a:spcAft>
              <a:buSzPts val="800"/>
              <a:buChar char="●"/>
            </a:pPr>
            <a:r>
              <a:rPr lang="en" b="1"/>
              <a:t>No strong linear trend. </a:t>
            </a:r>
            <a:endParaRPr b="1"/>
          </a:p>
          <a:p>
            <a:pPr marL="457200" lvl="0" indent="-279400" algn="l" rtl="0">
              <a:spcBef>
                <a:spcPts val="0"/>
              </a:spcBef>
              <a:spcAft>
                <a:spcPts val="0"/>
              </a:spcAft>
              <a:buSzPts val="800"/>
              <a:buChar char="●"/>
            </a:pPr>
            <a:r>
              <a:rPr lang="en" b="1"/>
              <a:t>Visible cluster showing higher deaths where  median age and case counts are higher.</a:t>
            </a:r>
            <a:endParaRPr b="1"/>
          </a:p>
          <a:p>
            <a:pPr marL="0" lvl="0" indent="0" algn="l" rtl="0">
              <a:spcBef>
                <a:spcPts val="0"/>
              </a:spcBef>
              <a:spcAft>
                <a:spcPts val="0"/>
              </a:spcAft>
              <a:buNone/>
            </a:pPr>
            <a:endParaRPr b="1"/>
          </a:p>
        </p:txBody>
      </p:sp>
      <p:pic>
        <p:nvPicPr>
          <p:cNvPr id="444" name="Google Shape;444;p53"/>
          <p:cNvPicPr preferRelativeResize="0"/>
          <p:nvPr/>
        </p:nvPicPr>
        <p:blipFill rotWithShape="1">
          <a:blip r:embed="rId3">
            <a:alphaModFix/>
          </a:blip>
          <a:srcRect t="13292"/>
          <a:stretch/>
        </p:blipFill>
        <p:spPr>
          <a:xfrm>
            <a:off x="407975" y="1512925"/>
            <a:ext cx="3837626" cy="2758950"/>
          </a:xfrm>
          <a:prstGeom prst="rect">
            <a:avLst/>
          </a:prstGeom>
          <a:noFill/>
          <a:ln>
            <a:noFill/>
          </a:ln>
        </p:spPr>
      </p:pic>
      <p:pic>
        <p:nvPicPr>
          <p:cNvPr id="445" name="Google Shape;445;p53" title="Slide 4.mp3">
            <a:hlinkClick r:id="rId4"/>
          </p:cNvPr>
          <p:cNvPicPr preferRelativeResize="0"/>
          <p:nvPr/>
        </p:nvPicPr>
        <p:blipFill>
          <a:blip r:embed="rId5">
            <a:alphaModFix/>
          </a:blip>
          <a:stretch>
            <a:fillRect/>
          </a:stretch>
        </p:blipFill>
        <p:spPr>
          <a:xfrm>
            <a:off x="8326225" y="298325"/>
            <a:ext cx="457200" cy="457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4"/>
          <p:cNvSpPr txBox="1">
            <a:spLocks noGrp="1"/>
          </p:cNvSpPr>
          <p:nvPr>
            <p:ph type="title"/>
          </p:nvPr>
        </p:nvSpPr>
        <p:spPr>
          <a:xfrm>
            <a:off x="407975"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B5394"/>
                </a:solidFill>
              </a:rPr>
              <a:t>Distribution  of New Percent Positive</a:t>
            </a:r>
            <a:endParaRPr>
              <a:solidFill>
                <a:srgbClr val="0B5394"/>
              </a:solidFill>
            </a:endParaRPr>
          </a:p>
        </p:txBody>
      </p:sp>
      <p:sp>
        <p:nvSpPr>
          <p:cNvPr id="451" name="Google Shape;451;p54"/>
          <p:cNvSpPr txBox="1">
            <a:spLocks noGrp="1"/>
          </p:cNvSpPr>
          <p:nvPr>
            <p:ph type="body" idx="1"/>
          </p:nvPr>
        </p:nvSpPr>
        <p:spPr>
          <a:xfrm>
            <a:off x="4745625" y="1280575"/>
            <a:ext cx="4147800" cy="3426600"/>
          </a:xfrm>
          <a:prstGeom prst="rect">
            <a:avLst/>
          </a:prstGeom>
        </p:spPr>
        <p:txBody>
          <a:bodyPr spcFirstLastPara="1" wrap="square" lIns="91425" tIns="91425" rIns="91425" bIns="91425" anchor="t" anchorCtr="0">
            <a:noAutofit/>
          </a:bodyPr>
          <a:lstStyle/>
          <a:p>
            <a:pPr marL="457200" lvl="0" indent="-279400" algn="l" rtl="0">
              <a:spcBef>
                <a:spcPts val="0"/>
              </a:spcBef>
              <a:spcAft>
                <a:spcPts val="0"/>
              </a:spcAft>
              <a:buSzPts val="800"/>
              <a:buChar char="●"/>
            </a:pPr>
            <a:r>
              <a:rPr lang="en" b="1"/>
              <a:t>Most counties cluster around lower positivity rates (around 0.05-0.08, or 5-8%).</a:t>
            </a:r>
            <a:endParaRPr b="1"/>
          </a:p>
          <a:p>
            <a:pPr marL="457200" lvl="0" indent="-279400" algn="l" rtl="0">
              <a:spcBef>
                <a:spcPts val="0"/>
              </a:spcBef>
              <a:spcAft>
                <a:spcPts val="0"/>
              </a:spcAft>
              <a:buSzPts val="800"/>
              <a:buChar char="●"/>
            </a:pPr>
            <a:r>
              <a:rPr lang="en" b="1"/>
              <a:t>The distribution is right-skewed, meaning a few counties have much higher positivity rates, up to around 0.4 (40%).</a:t>
            </a:r>
            <a:endParaRPr b="1"/>
          </a:p>
          <a:p>
            <a:pPr marL="457200" lvl="0" indent="-279400" algn="l" rtl="0">
              <a:spcBef>
                <a:spcPts val="0"/>
              </a:spcBef>
              <a:spcAft>
                <a:spcPts val="0"/>
              </a:spcAft>
              <a:buSzPts val="800"/>
              <a:buChar char="●"/>
            </a:pPr>
            <a:r>
              <a:rPr lang="en" b="1"/>
              <a:t>The small second bump around 0.12 might indicate a small subgroup of counties with moderately higher rates. </a:t>
            </a:r>
            <a:endParaRPr b="1"/>
          </a:p>
          <a:p>
            <a:pPr marL="457200" lvl="0" indent="-279400" algn="l" rtl="0">
              <a:spcBef>
                <a:spcPts val="0"/>
              </a:spcBef>
              <a:spcAft>
                <a:spcPts val="0"/>
              </a:spcAft>
              <a:buSzPts val="800"/>
              <a:buChar char="●"/>
            </a:pPr>
            <a:r>
              <a:rPr lang="en" b="1"/>
              <a:t>Outliers on the far right likely represent smaller or rural counties with fewer tests, where even a few positive cases inflate the positivity percentage. </a:t>
            </a:r>
            <a:endParaRPr b="1"/>
          </a:p>
        </p:txBody>
      </p:sp>
      <p:pic>
        <p:nvPicPr>
          <p:cNvPr id="452" name="Google Shape;452;p54"/>
          <p:cNvPicPr preferRelativeResize="0"/>
          <p:nvPr/>
        </p:nvPicPr>
        <p:blipFill rotWithShape="1">
          <a:blip r:embed="rId3">
            <a:alphaModFix/>
          </a:blip>
          <a:srcRect t="9436"/>
          <a:stretch/>
        </p:blipFill>
        <p:spPr>
          <a:xfrm>
            <a:off x="325875" y="1280572"/>
            <a:ext cx="4535175" cy="3088265"/>
          </a:xfrm>
          <a:prstGeom prst="rect">
            <a:avLst/>
          </a:prstGeom>
          <a:noFill/>
          <a:ln>
            <a:noFill/>
          </a:ln>
        </p:spPr>
      </p:pic>
      <p:pic>
        <p:nvPicPr>
          <p:cNvPr id="453" name="Google Shape;453;p54" title="Slide 5.mp3">
            <a:hlinkClick r:id="rId4"/>
          </p:cNvPr>
          <p:cNvPicPr preferRelativeResize="0"/>
          <p:nvPr/>
        </p:nvPicPr>
        <p:blipFill>
          <a:blip r:embed="rId5">
            <a:alphaModFix/>
          </a:blip>
          <a:stretch>
            <a:fillRect/>
          </a:stretch>
        </p:blipFill>
        <p:spPr>
          <a:xfrm>
            <a:off x="8370850" y="317238"/>
            <a:ext cx="457200" cy="457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55"/>
          <p:cNvSpPr txBox="1">
            <a:spLocks noGrp="1"/>
          </p:cNvSpPr>
          <p:nvPr>
            <p:ph type="title"/>
          </p:nvPr>
        </p:nvSpPr>
        <p:spPr>
          <a:xfrm>
            <a:off x="1216475" y="1977150"/>
            <a:ext cx="71994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0B5394"/>
                </a:solidFill>
              </a:rPr>
              <a:t>Linear Regression</a:t>
            </a:r>
            <a:endParaRPr>
              <a:solidFill>
                <a:srgbClr val="0B5394"/>
              </a:solidFill>
            </a:endParaRPr>
          </a:p>
        </p:txBody>
      </p:sp>
      <p:sp>
        <p:nvSpPr>
          <p:cNvPr id="459" name="Google Shape;459;p55"/>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KINGSLEY JOHN</a:t>
            </a:r>
            <a:endParaRPr/>
          </a:p>
        </p:txBody>
      </p:sp>
      <p:sp>
        <p:nvSpPr>
          <p:cNvPr id="460" name="Google Shape;460;p55"/>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56"/>
          <p:cNvSpPr txBox="1">
            <a:spLocks noGrp="1"/>
          </p:cNvSpPr>
          <p:nvPr>
            <p:ph type="subTitle" idx="1"/>
          </p:nvPr>
        </p:nvSpPr>
        <p:spPr>
          <a:xfrm>
            <a:off x="1216475" y="1303150"/>
            <a:ext cx="6714600" cy="324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a:t>Purpose:</a:t>
            </a:r>
            <a:endParaRPr sz="1100" b="1"/>
          </a:p>
          <a:p>
            <a:pPr marL="457200" lvl="0" indent="-298450" algn="l" rtl="0">
              <a:spcBef>
                <a:spcPts val="0"/>
              </a:spcBef>
              <a:spcAft>
                <a:spcPts val="0"/>
              </a:spcAft>
              <a:buSzPts val="1100"/>
              <a:buChar char="●"/>
            </a:pPr>
            <a:r>
              <a:rPr lang="en" sz="1100"/>
              <a:t>To examine whether county-level factors are related to the New Percent Positive COVID-19 rate in Florida.</a:t>
            </a:r>
            <a:endParaRPr sz="1100"/>
          </a:p>
          <a:p>
            <a:pPr marL="0" lvl="0" indent="0" algn="l" rtl="0">
              <a:spcBef>
                <a:spcPts val="0"/>
              </a:spcBef>
              <a:spcAft>
                <a:spcPts val="0"/>
              </a:spcAft>
              <a:buNone/>
            </a:pPr>
            <a:r>
              <a:rPr lang="en" sz="1100" b="1"/>
              <a:t>Variables Utilized:</a:t>
            </a:r>
            <a:endParaRPr sz="1100" b="1"/>
          </a:p>
          <a:p>
            <a:pPr marL="457200" lvl="0" indent="-298450" algn="l" rtl="0">
              <a:spcBef>
                <a:spcPts val="0"/>
              </a:spcBef>
              <a:spcAft>
                <a:spcPts val="0"/>
              </a:spcAft>
              <a:buSzPts val="1100"/>
              <a:buChar char="●"/>
            </a:pPr>
            <a:r>
              <a:rPr lang="en" sz="1100"/>
              <a:t>Outcome: y-intercept </a:t>
            </a:r>
            <a:endParaRPr sz="1100"/>
          </a:p>
          <a:p>
            <a:pPr marL="457200" lvl="0" indent="-298450" algn="l" rtl="0">
              <a:spcBef>
                <a:spcPts val="0"/>
              </a:spcBef>
              <a:spcAft>
                <a:spcPts val="0"/>
              </a:spcAft>
              <a:buSzPts val="1100"/>
              <a:buChar char="❖"/>
            </a:pPr>
            <a:r>
              <a:rPr lang="en" sz="1100"/>
              <a:t>  NewPerPos</a:t>
            </a:r>
            <a:endParaRPr sz="1100"/>
          </a:p>
          <a:p>
            <a:pPr marL="457200" lvl="0" indent="-298450" algn="l" rtl="0">
              <a:spcBef>
                <a:spcPts val="0"/>
              </a:spcBef>
              <a:spcAft>
                <a:spcPts val="0"/>
              </a:spcAft>
              <a:buSzPts val="1100"/>
              <a:buChar char="●"/>
            </a:pPr>
            <a:r>
              <a:rPr lang="en" sz="1100"/>
              <a:t>Predictors: x-intercept</a:t>
            </a:r>
            <a:endParaRPr sz="1100"/>
          </a:p>
          <a:p>
            <a:pPr marL="457200" lvl="0" indent="-298450" algn="l" rtl="0">
              <a:spcBef>
                <a:spcPts val="0"/>
              </a:spcBef>
              <a:spcAft>
                <a:spcPts val="0"/>
              </a:spcAft>
              <a:buSzPts val="1100"/>
              <a:buChar char="❖"/>
            </a:pPr>
            <a:r>
              <a:rPr lang="en" sz="1100"/>
              <a:t>MedianAge</a:t>
            </a:r>
            <a:endParaRPr sz="1100"/>
          </a:p>
          <a:p>
            <a:pPr marL="457200" lvl="0" indent="-298450" algn="l" rtl="0">
              <a:spcBef>
                <a:spcPts val="0"/>
              </a:spcBef>
              <a:spcAft>
                <a:spcPts val="0"/>
              </a:spcAft>
              <a:buSzPts val="1100"/>
              <a:buChar char="❖"/>
            </a:pPr>
            <a:r>
              <a:rPr lang="en" sz="1100"/>
              <a:t>EverMon(ever monitored)</a:t>
            </a:r>
            <a:endParaRPr sz="1100"/>
          </a:p>
          <a:p>
            <a:pPr marL="457200" lvl="0" indent="-298450" algn="l" rtl="0">
              <a:spcBef>
                <a:spcPts val="0"/>
              </a:spcBef>
              <a:spcAft>
                <a:spcPts val="0"/>
              </a:spcAft>
              <a:buSzPts val="1100"/>
              <a:buChar char="❖"/>
            </a:pPr>
            <a:r>
              <a:rPr lang="en" sz="1100"/>
              <a:t>MonNow(currently monitored)</a:t>
            </a:r>
            <a:endParaRPr sz="1100"/>
          </a:p>
          <a:p>
            <a:pPr marL="914400" lvl="0" indent="0" algn="l" rtl="0">
              <a:spcBef>
                <a:spcPts val="0"/>
              </a:spcBef>
              <a:spcAft>
                <a:spcPts val="0"/>
              </a:spcAft>
              <a:buNone/>
            </a:pPr>
            <a:endParaRPr sz="1100"/>
          </a:p>
          <a:p>
            <a:pPr marL="0" lvl="0" indent="0" algn="l" rtl="0">
              <a:spcBef>
                <a:spcPts val="0"/>
              </a:spcBef>
              <a:spcAft>
                <a:spcPts val="0"/>
              </a:spcAft>
              <a:buNone/>
            </a:pPr>
            <a:r>
              <a:rPr lang="en" sz="1100" b="1"/>
              <a:t>Process:</a:t>
            </a:r>
            <a:endParaRPr sz="1100" b="1"/>
          </a:p>
          <a:p>
            <a:pPr marL="457200" lvl="0" indent="-298450" algn="l" rtl="0">
              <a:spcBef>
                <a:spcPts val="0"/>
              </a:spcBef>
              <a:spcAft>
                <a:spcPts val="0"/>
              </a:spcAft>
              <a:buSzPts val="1100"/>
              <a:buChar char="●"/>
            </a:pPr>
            <a:r>
              <a:rPr lang="en" sz="1100"/>
              <a:t>Cleaned and selected the necessary numeric variables </a:t>
            </a:r>
            <a:endParaRPr sz="1100"/>
          </a:p>
          <a:p>
            <a:pPr marL="457200" lvl="0" indent="-298450" algn="l" rtl="0">
              <a:spcBef>
                <a:spcPts val="0"/>
              </a:spcBef>
              <a:spcAft>
                <a:spcPts val="0"/>
              </a:spcAft>
              <a:buSzPts val="1100"/>
              <a:buChar char="●"/>
            </a:pPr>
            <a:r>
              <a:rPr lang="en" sz="1100"/>
              <a:t>Built a simple regression model using Florida county data</a:t>
            </a:r>
            <a:endParaRPr sz="1100"/>
          </a:p>
          <a:p>
            <a:pPr marL="457200" lvl="0" indent="-298450" algn="l" rtl="0">
              <a:spcBef>
                <a:spcPts val="0"/>
              </a:spcBef>
              <a:spcAft>
                <a:spcPts val="0"/>
              </a:spcAft>
              <a:buSzPts val="1100"/>
              <a:buChar char="●"/>
            </a:pPr>
            <a:r>
              <a:rPr lang="en" sz="1100"/>
              <a:t>Checked coefficient direction, strength and significance</a:t>
            </a:r>
            <a:endParaRPr sz="1100"/>
          </a:p>
          <a:p>
            <a:pPr marL="457200" lvl="0" indent="-298450" algn="l" rtl="0">
              <a:spcBef>
                <a:spcPts val="0"/>
              </a:spcBef>
              <a:spcAft>
                <a:spcPts val="0"/>
              </a:spcAft>
              <a:buSzPts val="1100"/>
              <a:buChar char="●"/>
            </a:pPr>
            <a:r>
              <a:rPr lang="en" sz="1100"/>
              <a:t>Used scatterplots and fitted lines to visualize relationships</a:t>
            </a:r>
            <a:endParaRPr sz="1100"/>
          </a:p>
          <a:p>
            <a:pPr marL="457200" lvl="0" indent="0" algn="l" rtl="0">
              <a:spcBef>
                <a:spcPts val="0"/>
              </a:spcBef>
              <a:spcAft>
                <a:spcPts val="0"/>
              </a:spcAft>
              <a:buNone/>
            </a:pPr>
            <a:endParaRPr sz="1100"/>
          </a:p>
          <a:p>
            <a:pPr marL="0" lvl="0" indent="0" algn="l" rtl="0">
              <a:spcBef>
                <a:spcPts val="0"/>
              </a:spcBef>
              <a:spcAft>
                <a:spcPts val="0"/>
              </a:spcAft>
              <a:buNone/>
            </a:pPr>
            <a:endParaRPr sz="1100" b="1"/>
          </a:p>
          <a:p>
            <a:pPr marL="0" lvl="0" indent="0" algn="l" rtl="0">
              <a:spcBef>
                <a:spcPts val="0"/>
              </a:spcBef>
              <a:spcAft>
                <a:spcPts val="0"/>
              </a:spcAft>
              <a:buNone/>
            </a:pPr>
            <a:endParaRPr sz="1100"/>
          </a:p>
        </p:txBody>
      </p:sp>
      <p:sp>
        <p:nvSpPr>
          <p:cNvPr id="466" name="Google Shape;466;p56"/>
          <p:cNvSpPr txBox="1">
            <a:spLocks noGrp="1"/>
          </p:cNvSpPr>
          <p:nvPr>
            <p:ph type="title"/>
          </p:nvPr>
        </p:nvSpPr>
        <p:spPr>
          <a:xfrm>
            <a:off x="1216475" y="461350"/>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rgbClr val="0B5394"/>
                </a:solidFill>
              </a:rPr>
              <a:t>Linear Regression </a:t>
            </a:r>
            <a:endParaRPr sz="2800">
              <a:solidFill>
                <a:srgbClr val="0B5394"/>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57"/>
          <p:cNvSpPr txBox="1">
            <a:spLocks noGrp="1"/>
          </p:cNvSpPr>
          <p:nvPr>
            <p:ph type="title"/>
          </p:nvPr>
        </p:nvSpPr>
        <p:spPr>
          <a:xfrm>
            <a:off x="1216475" y="645375"/>
            <a:ext cx="5746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rgbClr val="0B5394"/>
                </a:solidFill>
              </a:rPr>
              <a:t>Linear Regression Continued…</a:t>
            </a:r>
            <a:endParaRPr sz="2800">
              <a:solidFill>
                <a:srgbClr val="0B5394"/>
              </a:solidFill>
            </a:endParaRPr>
          </a:p>
        </p:txBody>
      </p:sp>
      <p:sp>
        <p:nvSpPr>
          <p:cNvPr id="472" name="Google Shape;472;p57"/>
          <p:cNvSpPr txBox="1">
            <a:spLocks noGrp="1"/>
          </p:cNvSpPr>
          <p:nvPr>
            <p:ph type="subTitle" idx="1"/>
          </p:nvPr>
        </p:nvSpPr>
        <p:spPr>
          <a:xfrm>
            <a:off x="1216475" y="1456175"/>
            <a:ext cx="6179100" cy="300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b="1"/>
              <a:t>Interpretation:</a:t>
            </a:r>
            <a:endParaRPr sz="1000" b="1"/>
          </a:p>
          <a:p>
            <a:pPr marL="457200" lvl="0" indent="-292100" algn="l" rtl="0">
              <a:spcBef>
                <a:spcPts val="0"/>
              </a:spcBef>
              <a:spcAft>
                <a:spcPts val="0"/>
              </a:spcAft>
              <a:buSzPts val="1000"/>
              <a:buChar char="●"/>
            </a:pPr>
            <a:r>
              <a:rPr lang="en" sz="1000"/>
              <a:t> Some predictors show meaningful relationships with New Percent Positive, especially Median Age, which displayed a clearer pattern compared to the monitoring variables.</a:t>
            </a:r>
            <a:endParaRPr sz="1000"/>
          </a:p>
          <a:p>
            <a:pPr marL="457200" lvl="0" indent="-292100" algn="l" rtl="0">
              <a:spcBef>
                <a:spcPts val="0"/>
              </a:spcBef>
              <a:spcAft>
                <a:spcPts val="0"/>
              </a:spcAft>
              <a:buSzPts val="1000"/>
              <a:buChar char="●"/>
            </a:pPr>
            <a:r>
              <a:rPr lang="en" sz="1000"/>
              <a:t>Regression helps highlight which county characteristics align with higher or lower positivity rates</a:t>
            </a:r>
            <a:endParaRPr sz="1000"/>
          </a:p>
          <a:p>
            <a:pPr marL="457200" lvl="0" indent="-292100" algn="l" rtl="0">
              <a:spcBef>
                <a:spcPts val="0"/>
              </a:spcBef>
              <a:spcAft>
                <a:spcPts val="0"/>
              </a:spcAft>
              <a:buSzPts val="1000"/>
              <a:buChar char="●"/>
            </a:pPr>
            <a:r>
              <a:rPr lang="en" sz="1000"/>
              <a:t>Visual checks (residuals, scatterplots) support understanding model fit.</a:t>
            </a:r>
            <a:endParaRPr sz="1000"/>
          </a:p>
          <a:p>
            <a:pPr marL="457200" lvl="0" indent="0" algn="l" rtl="0">
              <a:spcBef>
                <a:spcPts val="0"/>
              </a:spcBef>
              <a:spcAft>
                <a:spcPts val="0"/>
              </a:spcAft>
              <a:buNone/>
            </a:pPr>
            <a:endParaRPr sz="1000"/>
          </a:p>
          <a:p>
            <a:pPr marL="0" lvl="0" indent="0" algn="l" rtl="0">
              <a:spcBef>
                <a:spcPts val="0"/>
              </a:spcBef>
              <a:spcAft>
                <a:spcPts val="0"/>
              </a:spcAft>
              <a:buNone/>
            </a:pPr>
            <a:endParaRPr sz="1300"/>
          </a:p>
        </p:txBody>
      </p:sp>
      <p:pic>
        <p:nvPicPr>
          <p:cNvPr id="473" name="Google Shape;473;p57" title="Screenshot 2025-12-05 210111.png"/>
          <p:cNvPicPr preferRelativeResize="0"/>
          <p:nvPr/>
        </p:nvPicPr>
        <p:blipFill>
          <a:blip r:embed="rId3">
            <a:alphaModFix/>
          </a:blip>
          <a:stretch>
            <a:fillRect/>
          </a:stretch>
        </p:blipFill>
        <p:spPr>
          <a:xfrm>
            <a:off x="1000225" y="2382300"/>
            <a:ext cx="2860776" cy="2111301"/>
          </a:xfrm>
          <a:prstGeom prst="rect">
            <a:avLst/>
          </a:prstGeom>
          <a:noFill/>
          <a:ln>
            <a:noFill/>
          </a:ln>
        </p:spPr>
      </p:pic>
      <p:pic>
        <p:nvPicPr>
          <p:cNvPr id="474" name="Google Shape;474;p57" title="Screenshot 2025-12-05 210155.png"/>
          <p:cNvPicPr preferRelativeResize="0"/>
          <p:nvPr/>
        </p:nvPicPr>
        <p:blipFill>
          <a:blip r:embed="rId4">
            <a:alphaModFix/>
          </a:blip>
          <a:stretch>
            <a:fillRect/>
          </a:stretch>
        </p:blipFill>
        <p:spPr>
          <a:xfrm>
            <a:off x="4318925" y="2534250"/>
            <a:ext cx="3061325" cy="1885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58"/>
          <p:cNvSpPr txBox="1">
            <a:spLocks noGrp="1"/>
          </p:cNvSpPr>
          <p:nvPr>
            <p:ph type="title"/>
          </p:nvPr>
        </p:nvSpPr>
        <p:spPr>
          <a:xfrm>
            <a:off x="1216475" y="1977150"/>
            <a:ext cx="71994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0B5394"/>
                </a:solidFill>
              </a:rPr>
              <a:t>Topic Modeling</a:t>
            </a:r>
            <a:endParaRPr>
              <a:solidFill>
                <a:srgbClr val="0B5394"/>
              </a:solidFill>
            </a:endParaRPr>
          </a:p>
        </p:txBody>
      </p:sp>
      <p:sp>
        <p:nvSpPr>
          <p:cNvPr id="480" name="Google Shape;480;p58"/>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KAYLEN TON</a:t>
            </a:r>
            <a:endParaRPr/>
          </a:p>
        </p:txBody>
      </p:sp>
      <p:sp>
        <p:nvSpPr>
          <p:cNvPr id="481" name="Google Shape;481;p58"/>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59"/>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B5394"/>
                </a:solidFill>
              </a:rPr>
              <a:t>Workflow</a:t>
            </a:r>
            <a:endParaRPr>
              <a:solidFill>
                <a:srgbClr val="0B5394"/>
              </a:solidFill>
            </a:endParaRPr>
          </a:p>
        </p:txBody>
      </p:sp>
      <p:sp>
        <p:nvSpPr>
          <p:cNvPr id="487" name="Google Shape;487;p59"/>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tidyverse, tidytext, qdap, tm, SnowballC, topicmodels</a:t>
            </a:r>
            <a:endParaRPr/>
          </a:p>
          <a:p>
            <a:pPr marL="457200" lvl="0" indent="-317500" algn="l" rtl="0">
              <a:spcBef>
                <a:spcPts val="0"/>
              </a:spcBef>
              <a:spcAft>
                <a:spcPts val="0"/>
              </a:spcAft>
              <a:buSzPts val="1400"/>
              <a:buChar char="●"/>
            </a:pPr>
            <a:r>
              <a:rPr lang="en"/>
              <a:t>Cleaning the tweets, tokenizing the words, stemming + stem completion</a:t>
            </a:r>
            <a:endParaRPr/>
          </a:p>
        </p:txBody>
      </p:sp>
      <p:sp>
        <p:nvSpPr>
          <p:cNvPr id="488" name="Google Shape;488;p59"/>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Trial-and-error’d several different </a:t>
            </a:r>
            <a:r>
              <a:rPr lang="en" i="1"/>
              <a:t>k</a:t>
            </a:r>
            <a:r>
              <a:rPr lang="en"/>
              <a:t> values, proceeding with the model which gave the most humanly interpretable results</a:t>
            </a:r>
            <a:endParaRPr/>
          </a:p>
        </p:txBody>
      </p:sp>
      <p:sp>
        <p:nvSpPr>
          <p:cNvPr id="489" name="Google Shape;489;p59"/>
          <p:cNvSpPr txBox="1">
            <a:spLocks noGrp="1"/>
          </p:cNvSpPr>
          <p:nvPr>
            <p:ph type="subTitle" idx="3"/>
          </p:nvPr>
        </p:nvSpPr>
        <p:spPr>
          <a:xfrm>
            <a:off x="1731050" y="3957450"/>
            <a:ext cx="6613200" cy="5277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Determined the most overall talked about topics during April - June in 2020 and 2021 by assigning topics based off highest gamma per document</a:t>
            </a:r>
            <a:endParaRPr/>
          </a:p>
        </p:txBody>
      </p:sp>
      <p:sp>
        <p:nvSpPr>
          <p:cNvPr id="490" name="Google Shape;490;p59"/>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Preparing the data</a:t>
            </a:r>
            <a:endParaRPr/>
          </a:p>
        </p:txBody>
      </p:sp>
      <p:sp>
        <p:nvSpPr>
          <p:cNvPr id="491" name="Google Shape;491;p59"/>
          <p:cNvSpPr txBox="1">
            <a:spLocks noGrp="1"/>
          </p:cNvSpPr>
          <p:nvPr>
            <p:ph type="subTitle" idx="5"/>
          </p:nvPr>
        </p:nvSpPr>
        <p:spPr>
          <a:xfrm>
            <a:off x="1731050" y="2395400"/>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3C78D8"/>
                </a:solidFill>
              </a:rPr>
              <a:t>tidy(matrix = “beta”)</a:t>
            </a:r>
            <a:endParaRPr>
              <a:solidFill>
                <a:srgbClr val="3C78D8"/>
              </a:solidFill>
            </a:endParaRPr>
          </a:p>
        </p:txBody>
      </p:sp>
      <p:sp>
        <p:nvSpPr>
          <p:cNvPr id="492" name="Google Shape;492;p59"/>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3C78D8"/>
                </a:solidFill>
              </a:rPr>
              <a:t>tidy(matrix = “gamma”)</a:t>
            </a:r>
            <a:endParaRPr>
              <a:solidFill>
                <a:srgbClr val="3C78D8"/>
              </a:solidFill>
            </a:endParaRPr>
          </a:p>
        </p:txBody>
      </p:sp>
      <p:grpSp>
        <p:nvGrpSpPr>
          <p:cNvPr id="493" name="Google Shape;493;p59"/>
          <p:cNvGrpSpPr/>
          <p:nvPr/>
        </p:nvGrpSpPr>
        <p:grpSpPr>
          <a:xfrm>
            <a:off x="1122353" y="1370104"/>
            <a:ext cx="308234" cy="308234"/>
            <a:chOff x="1487200" y="4993750"/>
            <a:chExt cx="483125" cy="483125"/>
          </a:xfrm>
        </p:grpSpPr>
        <p:sp>
          <p:nvSpPr>
            <p:cNvPr id="494" name="Google Shape;494;p59"/>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6AA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5" name="Google Shape;495;p59"/>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6AA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6" name="Google Shape;496;p59"/>
          <p:cNvGrpSpPr/>
          <p:nvPr/>
        </p:nvGrpSpPr>
        <p:grpSpPr>
          <a:xfrm>
            <a:off x="1122353" y="2497954"/>
            <a:ext cx="308234" cy="308234"/>
            <a:chOff x="1487200" y="4993750"/>
            <a:chExt cx="483125" cy="483125"/>
          </a:xfrm>
        </p:grpSpPr>
        <p:sp>
          <p:nvSpPr>
            <p:cNvPr id="497" name="Google Shape;497;p59"/>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6AA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8" name="Google Shape;498;p59"/>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6AA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9" name="Google Shape;499;p59"/>
          <p:cNvGrpSpPr/>
          <p:nvPr/>
        </p:nvGrpSpPr>
        <p:grpSpPr>
          <a:xfrm>
            <a:off x="1122353" y="3656554"/>
            <a:ext cx="308234" cy="308234"/>
            <a:chOff x="1487200" y="4993750"/>
            <a:chExt cx="483125" cy="483125"/>
          </a:xfrm>
        </p:grpSpPr>
        <p:sp>
          <p:nvSpPr>
            <p:cNvPr id="500" name="Google Shape;500;p59"/>
            <p:cNvSpPr/>
            <p:nvPr/>
          </p:nvSpPr>
          <p:spPr>
            <a:xfrm>
              <a:off x="1487200" y="4993750"/>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rgbClr val="6AA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1" name="Google Shape;501;p59"/>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rgbClr val="6AA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B5394"/>
                </a:solidFill>
              </a:rPr>
              <a:t>Preparing The Data (PT.1)</a:t>
            </a:r>
            <a:endParaRPr>
              <a:solidFill>
                <a:srgbClr val="0B5394"/>
              </a:solidFill>
            </a:endParaRPr>
          </a:p>
        </p:txBody>
      </p:sp>
      <p:sp>
        <p:nvSpPr>
          <p:cNvPr id="507" name="Google Shape;507;p60"/>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Original tweet:</a:t>
            </a:r>
            <a:endParaRPr b="1"/>
          </a:p>
          <a:p>
            <a:pPr marL="0" lvl="0" indent="0" algn="l" rtl="0">
              <a:spcBef>
                <a:spcPts val="0"/>
              </a:spcBef>
              <a:spcAft>
                <a:spcPts val="0"/>
              </a:spcAft>
              <a:buNone/>
            </a:pPr>
            <a:r>
              <a:rPr lang="en"/>
              <a:t>@ayemojubar We have lost 3 healthcare workers: Dr Emeka, Dr(PT) Otegbeye and Dr Aminu...yet some still think COVID-… </a:t>
            </a:r>
            <a:r>
              <a:rPr lang="en" u="sng">
                <a:solidFill>
                  <a:schemeClr val="hlink"/>
                </a:solidFill>
                <a:hlinkClick r:id="rId3"/>
              </a:rPr>
              <a:t>https://t.co/u04st9avXw</a:t>
            </a:r>
            <a:endParaRPr/>
          </a:p>
          <a:p>
            <a:pPr marL="0" lvl="0" indent="0" algn="l" rtl="0">
              <a:spcBef>
                <a:spcPts val="0"/>
              </a:spcBef>
              <a:spcAft>
                <a:spcPts val="0"/>
              </a:spcAft>
              <a:buNone/>
            </a:pPr>
            <a:endParaRPr/>
          </a:p>
          <a:p>
            <a:pPr marL="0" lvl="0" indent="0" algn="l" rtl="0">
              <a:spcBef>
                <a:spcPts val="0"/>
              </a:spcBef>
              <a:spcAft>
                <a:spcPts val="0"/>
              </a:spcAft>
              <a:buNone/>
            </a:pPr>
            <a:r>
              <a:rPr lang="en" b="1"/>
              <a:t>Semi-cleaned tweet:</a:t>
            </a:r>
            <a:endParaRPr b="1"/>
          </a:p>
          <a:p>
            <a:pPr marL="0" lvl="0" indent="0" algn="l" rtl="0">
              <a:spcBef>
                <a:spcPts val="0"/>
              </a:spcBef>
              <a:spcAft>
                <a:spcPts val="0"/>
              </a:spcAft>
              <a:buNone/>
            </a:pPr>
            <a:r>
              <a:rPr lang="en"/>
              <a:t>We have lost three healthcare workers Dr Emeka DrPT Otegbeye and Dr Aminuyet some still think COVID… </a:t>
            </a:r>
            <a:endParaRPr/>
          </a:p>
          <a:p>
            <a:pPr marL="0" lvl="0" indent="0" algn="l" rtl="0">
              <a:spcBef>
                <a:spcPts val="0"/>
              </a:spcBef>
              <a:spcAft>
                <a:spcPts val="0"/>
              </a:spcAft>
              <a:buNone/>
            </a:pPr>
            <a:endParaRPr/>
          </a:p>
          <a:p>
            <a:pPr marL="0" lvl="0" indent="0" algn="l" rtl="0">
              <a:spcBef>
                <a:spcPts val="0"/>
              </a:spcBef>
              <a:spcAft>
                <a:spcPts val="0"/>
              </a:spcAft>
              <a:buNone/>
            </a:pPr>
            <a:r>
              <a:rPr lang="en" b="1"/>
              <a:t>Then:</a:t>
            </a:r>
            <a:endParaRPr b="1"/>
          </a:p>
          <a:p>
            <a:pPr marL="457200" lvl="0" indent="-279400" algn="l" rtl="0">
              <a:spcBef>
                <a:spcPts val="0"/>
              </a:spcBef>
              <a:spcAft>
                <a:spcPts val="0"/>
              </a:spcAft>
              <a:buSzPts val="800"/>
              <a:buChar char="➔"/>
            </a:pPr>
            <a:r>
              <a:rPr lang="en"/>
              <a:t>Tokenizing using </a:t>
            </a:r>
            <a:r>
              <a:rPr lang="en" b="1"/>
              <a:t>unnest_tokens()</a:t>
            </a:r>
            <a:endParaRPr b="1"/>
          </a:p>
          <a:p>
            <a:pPr marL="457200" lvl="0" indent="-279400" algn="l" rtl="0">
              <a:spcBef>
                <a:spcPts val="0"/>
              </a:spcBef>
              <a:spcAft>
                <a:spcPts val="0"/>
              </a:spcAft>
              <a:buSzPts val="800"/>
              <a:buChar char="➔"/>
            </a:pPr>
            <a:r>
              <a:rPr lang="en"/>
              <a:t>Removing stop words using </a:t>
            </a:r>
            <a:r>
              <a:rPr lang="en" b="1"/>
              <a:t>anti_join()</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6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B5394"/>
                </a:solidFill>
              </a:rPr>
              <a:t>Preparing The Data (PT.2)</a:t>
            </a:r>
            <a:endParaRPr>
              <a:solidFill>
                <a:srgbClr val="0B5394"/>
              </a:solidFill>
            </a:endParaRPr>
          </a:p>
        </p:txBody>
      </p:sp>
      <p:sp>
        <p:nvSpPr>
          <p:cNvPr id="5" name="Google Shape;513;p61">
            <a:extLst>
              <a:ext uri="{FF2B5EF4-FFF2-40B4-BE49-F238E27FC236}">
                <a16:creationId xmlns:a16="http://schemas.microsoft.com/office/drawing/2014/main" id="{0CE5542C-3A50-9E7B-4264-018C3733551D}"/>
              </a:ext>
            </a:extLst>
          </p:cNvPr>
          <p:cNvSpPr txBox="1">
            <a:spLocks/>
          </p:cNvSpPr>
          <p:nvPr/>
        </p:nvSpPr>
        <p:spPr>
          <a:xfrm>
            <a:off x="720000" y="1312975"/>
            <a:ext cx="7856400" cy="3385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buFont typeface="Hanken Grotesk"/>
              <a:buNone/>
            </a:pPr>
            <a:r>
              <a:rPr lang="en-US" b="1" dirty="0"/>
              <a:t>1) Word Stemming &amp; Stem Completion</a:t>
            </a:r>
          </a:p>
          <a:p>
            <a:pPr>
              <a:buFont typeface="Hanken Grotesk"/>
              <a:buAutoNum type="alphaUcPeriod"/>
            </a:pPr>
            <a:r>
              <a:rPr lang="en-US" dirty="0"/>
              <a:t>Created a dictionary, pulling distinct words from the cleaned, tokenized </a:t>
            </a:r>
            <a:r>
              <a:rPr lang="en-US" dirty="0" err="1"/>
              <a:t>dataframe</a:t>
            </a:r>
            <a:endParaRPr lang="en-US" dirty="0"/>
          </a:p>
          <a:p>
            <a:pPr>
              <a:buFont typeface="Hanken Grotesk"/>
              <a:buAutoNum type="alphaUcPeriod"/>
            </a:pPr>
            <a:r>
              <a:rPr lang="en-US" dirty="0" err="1"/>
              <a:t>wordStem</a:t>
            </a:r>
            <a:r>
              <a:rPr lang="en-US" dirty="0"/>
              <a:t>() - breaking the words into their roots</a:t>
            </a:r>
          </a:p>
          <a:p>
            <a:pPr>
              <a:buFont typeface="Hanken Grotesk"/>
              <a:buAutoNum type="alphaUcPeriod"/>
            </a:pPr>
            <a:r>
              <a:rPr lang="en-US" dirty="0" err="1"/>
              <a:t>stemCompletion</a:t>
            </a:r>
            <a:r>
              <a:rPr lang="en-US" dirty="0"/>
              <a:t>() - using the dictionary as reference to complete the words</a:t>
            </a:r>
          </a:p>
          <a:p>
            <a:pPr marL="0" indent="0">
              <a:buFont typeface="Hanken Grotesk"/>
              <a:buNone/>
            </a:pPr>
            <a:endParaRPr lang="en-US" b="1" dirty="0"/>
          </a:p>
          <a:p>
            <a:pPr marL="0" indent="0">
              <a:buFont typeface="Hanken Grotesk"/>
              <a:buNone/>
            </a:pPr>
            <a:r>
              <a:rPr lang="en-US" b="1" dirty="0">
                <a:solidFill>
                  <a:srgbClr val="3C78D8"/>
                </a:solidFill>
              </a:rPr>
              <a:t>Some words did not stem-complete the way I hoped, so I manually changed them using mutate() and recode().</a:t>
            </a:r>
          </a:p>
          <a:p>
            <a:pPr marL="0" indent="0">
              <a:buFont typeface="Hanken Grotesk"/>
              <a:buNone/>
            </a:pPr>
            <a:endParaRPr lang="en-US" b="1" dirty="0"/>
          </a:p>
          <a:p>
            <a:pPr marL="0" indent="0">
              <a:buFont typeface="Hanken Grotesk"/>
              <a:buNone/>
            </a:pPr>
            <a:r>
              <a:rPr lang="en-US" b="1" dirty="0"/>
              <a:t>2)    Counting:				3)     Creating DTM: 	</a:t>
            </a:r>
          </a:p>
          <a:p>
            <a:pPr marL="0" indent="0">
              <a:buFont typeface="Hanken Grotesk"/>
              <a:buNone/>
            </a:pPr>
            <a:r>
              <a:rPr lang="en-US" dirty="0"/>
              <a:t>       count(id, word)			                            </a:t>
            </a:r>
            <a:r>
              <a:rPr lang="en-US" dirty="0" err="1"/>
              <a:t>cast_dtm</a:t>
            </a:r>
            <a:r>
              <a:rPr lang="en-US" dirty="0"/>
              <a:t>(id, word, 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62"/>
          <p:cNvSpPr txBox="1">
            <a:spLocks noGrp="1"/>
          </p:cNvSpPr>
          <p:nvPr>
            <p:ph type="title"/>
          </p:nvPr>
        </p:nvSpPr>
        <p:spPr>
          <a:xfrm>
            <a:off x="1644450" y="1663950"/>
            <a:ext cx="5855100" cy="760800"/>
          </a:xfrm>
          <a:prstGeom prst="rect">
            <a:avLst/>
          </a:prstGeom>
          <a:ln w="19050" cap="flat" cmpd="sng">
            <a:solidFill>
              <a:schemeClr val="dk1"/>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sz="3500">
                <a:solidFill>
                  <a:srgbClr val="3C78D8"/>
                </a:solidFill>
              </a:rPr>
              <a:t>Latent Dirichlet Allocation</a:t>
            </a:r>
            <a:endParaRPr sz="3500">
              <a:solidFill>
                <a:srgbClr val="3C78D8"/>
              </a:solidFill>
            </a:endParaRPr>
          </a:p>
        </p:txBody>
      </p:sp>
      <p:sp>
        <p:nvSpPr>
          <p:cNvPr id="519" name="Google Shape;519;p62"/>
          <p:cNvSpPr txBox="1">
            <a:spLocks noGrp="1"/>
          </p:cNvSpPr>
          <p:nvPr>
            <p:ph type="title"/>
          </p:nvPr>
        </p:nvSpPr>
        <p:spPr>
          <a:xfrm>
            <a:off x="1644450" y="2424750"/>
            <a:ext cx="5855100" cy="10548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sz="1400">
                <a:solidFill>
                  <a:schemeClr val="lt1"/>
                </a:solidFill>
                <a:latin typeface="Hanken Grotesk"/>
                <a:ea typeface="Hanken Grotesk"/>
                <a:cs typeface="Hanken Grotesk"/>
                <a:sym typeface="Hanken Grotesk"/>
              </a:rPr>
              <a:t>An unsupervised machine learning topic modeling technique. </a:t>
            </a:r>
            <a:endParaRPr sz="1400">
              <a:solidFill>
                <a:schemeClr val="lt1"/>
              </a:solidFill>
              <a:latin typeface="Hanken Grotesk"/>
              <a:ea typeface="Hanken Grotesk"/>
              <a:cs typeface="Hanken Grotesk"/>
              <a:sym typeface="Hanken Grotesk"/>
            </a:endParaRPr>
          </a:p>
          <a:p>
            <a:pPr marL="0" marR="0" lvl="0" indent="0" algn="l" rtl="0">
              <a:lnSpc>
                <a:spcPct val="115000"/>
              </a:lnSpc>
              <a:spcBef>
                <a:spcPts val="0"/>
              </a:spcBef>
              <a:spcAft>
                <a:spcPts val="0"/>
              </a:spcAft>
              <a:buNone/>
            </a:pPr>
            <a:r>
              <a:rPr lang="en" sz="1400">
                <a:solidFill>
                  <a:schemeClr val="lt1"/>
                </a:solidFill>
                <a:latin typeface="Hanken Grotesk"/>
                <a:ea typeface="Hanken Grotesk"/>
                <a:cs typeface="Hanken Grotesk"/>
                <a:sym typeface="Hanken Grotesk"/>
              </a:rPr>
              <a:t>It intends to uncover topics and themes which exist in and characterize the documents / text data.</a:t>
            </a:r>
            <a:endParaRPr sz="1400">
              <a:solidFill>
                <a:schemeClr val="lt1"/>
              </a:solidFill>
              <a:latin typeface="Hanken Grotesk"/>
              <a:ea typeface="Hanken Grotesk"/>
              <a:cs typeface="Hanken Grotesk"/>
              <a:sym typeface="Hanken Grotesk"/>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pic>
        <p:nvPicPr>
          <p:cNvPr id="524" name="Google Shape;524;p63"/>
          <p:cNvPicPr preferRelativeResize="0"/>
          <p:nvPr/>
        </p:nvPicPr>
        <p:blipFill>
          <a:blip r:embed="rId3">
            <a:alphaModFix/>
          </a:blip>
          <a:stretch>
            <a:fillRect/>
          </a:stretch>
        </p:blipFill>
        <p:spPr>
          <a:xfrm>
            <a:off x="701038" y="152400"/>
            <a:ext cx="7741921" cy="48387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pic>
        <p:nvPicPr>
          <p:cNvPr id="529" name="Google Shape;529;p64"/>
          <p:cNvPicPr preferRelativeResize="0"/>
          <p:nvPr/>
        </p:nvPicPr>
        <p:blipFill>
          <a:blip r:embed="rId3">
            <a:alphaModFix/>
          </a:blip>
          <a:stretch>
            <a:fillRect/>
          </a:stretch>
        </p:blipFill>
        <p:spPr>
          <a:xfrm>
            <a:off x="654225" y="152400"/>
            <a:ext cx="7835539" cy="4838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Google Shape;534;p65"/>
          <p:cNvPicPr preferRelativeResize="0"/>
          <p:nvPr/>
        </p:nvPicPr>
        <p:blipFill>
          <a:blip r:embed="rId3">
            <a:alphaModFix/>
          </a:blip>
          <a:stretch>
            <a:fillRect/>
          </a:stretch>
        </p:blipFill>
        <p:spPr>
          <a:xfrm>
            <a:off x="701038" y="152400"/>
            <a:ext cx="7741921" cy="48387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pic>
        <p:nvPicPr>
          <p:cNvPr id="539" name="Google Shape;539;p66"/>
          <p:cNvPicPr preferRelativeResize="0"/>
          <p:nvPr/>
        </p:nvPicPr>
        <p:blipFill>
          <a:blip r:embed="rId3">
            <a:alphaModFix/>
          </a:blip>
          <a:stretch>
            <a:fillRect/>
          </a:stretch>
        </p:blipFill>
        <p:spPr>
          <a:xfrm>
            <a:off x="654225" y="152400"/>
            <a:ext cx="7835539" cy="4838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7"/>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0B5394"/>
                </a:solidFill>
              </a:rPr>
              <a:t>LDA INSIGHTS</a:t>
            </a:r>
            <a:endParaRPr>
              <a:solidFill>
                <a:srgbClr val="0B5394"/>
              </a:solidFill>
            </a:endParaRPr>
          </a:p>
        </p:txBody>
      </p:sp>
      <p:sp>
        <p:nvSpPr>
          <p:cNvPr id="545" name="Google Shape;545;p67"/>
          <p:cNvSpPr txBox="1"/>
          <p:nvPr/>
        </p:nvSpPr>
        <p:spPr>
          <a:xfrm>
            <a:off x="910950" y="2494200"/>
            <a:ext cx="7322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Hanken Grotesk"/>
                <a:ea typeface="Hanken Grotesk"/>
                <a:cs typeface="Hanken Grotesk"/>
                <a:sym typeface="Hanken Grotesk"/>
              </a:rPr>
              <a:t>For 2020, the strongest themes regarded health and test reports, pandemic updates, and government response. However, for 2021, we can observe the theme of vaccines dominating most topics.</a:t>
            </a:r>
            <a:endParaRPr>
              <a:latin typeface="Hanken Grotesk"/>
              <a:ea typeface="Hanken Grotesk"/>
              <a:cs typeface="Hanken Grotesk"/>
              <a:sym typeface="Hanken Grotesk"/>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68"/>
          <p:cNvSpPr txBox="1">
            <a:spLocks noGrp="1"/>
          </p:cNvSpPr>
          <p:nvPr>
            <p:ph type="title"/>
          </p:nvPr>
        </p:nvSpPr>
        <p:spPr>
          <a:xfrm>
            <a:off x="1216475" y="1977150"/>
            <a:ext cx="71994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0B5394"/>
                </a:solidFill>
              </a:rPr>
              <a:t>Sentiment Analysis</a:t>
            </a:r>
            <a:endParaRPr>
              <a:solidFill>
                <a:srgbClr val="0B5394"/>
              </a:solidFill>
            </a:endParaRPr>
          </a:p>
        </p:txBody>
      </p:sp>
      <p:sp>
        <p:nvSpPr>
          <p:cNvPr id="551" name="Google Shape;551;p68"/>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LYNDSEY GUIDASH</a:t>
            </a:r>
            <a:endParaRPr/>
          </a:p>
        </p:txBody>
      </p:sp>
      <p:sp>
        <p:nvSpPr>
          <p:cNvPr id="552" name="Google Shape;552;p68"/>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Sentiment Analysis</a:t>
            </a:r>
            <a:endParaRPr/>
          </a:p>
        </p:txBody>
      </p:sp>
      <p:sp>
        <p:nvSpPr>
          <p:cNvPr id="558" name="Google Shape;558;p69"/>
          <p:cNvSpPr txBox="1">
            <a:spLocks noGrp="1"/>
          </p:cNvSpPr>
          <p:nvPr>
            <p:ph type="body" idx="1"/>
          </p:nvPr>
        </p:nvSpPr>
        <p:spPr>
          <a:xfrm>
            <a:off x="311700" y="1152475"/>
            <a:ext cx="7838700" cy="24768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
              <a:t>Sentiment analysis uses natural language processing to detect emotions, attitudes, or opinions in text.</a:t>
            </a:r>
            <a:endParaRPr/>
          </a:p>
          <a:p>
            <a:pPr marL="457200" lvl="0" indent="-342900" algn="l" rtl="0">
              <a:spcBef>
                <a:spcPts val="1200"/>
              </a:spcBef>
              <a:spcAft>
                <a:spcPts val="0"/>
              </a:spcAft>
              <a:buSzPts val="1800"/>
              <a:buChar char="●"/>
            </a:pPr>
            <a:r>
              <a:rPr lang="en"/>
              <a:t>Helps researchers and organizations understand public mood and track trends, which in turn allows them solve issues more efficiently</a:t>
            </a:r>
            <a:endParaRPr/>
          </a:p>
          <a:p>
            <a:pPr marL="0" lvl="0" indent="0" algn="l" rtl="0">
              <a:spcBef>
                <a:spcPts val="1200"/>
              </a:spcBef>
              <a:spcAft>
                <a:spcPts val="1200"/>
              </a:spcAft>
              <a:buNone/>
            </a:pPr>
            <a:r>
              <a:rPr lang="en"/>
              <a:t>This analysis reveals shifts in public mood over time, identifies language divided by positive and negative, and is good decision-making support in health and customer service.</a:t>
            </a:r>
            <a:endParaRPr/>
          </a:p>
        </p:txBody>
      </p:sp>
      <p:sp>
        <p:nvSpPr>
          <p:cNvPr id="559" name="Google Shape;559;p69"/>
          <p:cNvSpPr/>
          <p:nvPr/>
        </p:nvSpPr>
        <p:spPr>
          <a:xfrm>
            <a:off x="85550" y="3895414"/>
            <a:ext cx="2214600" cy="669000"/>
          </a:xfrm>
          <a:prstGeom prst="homePlate">
            <a:avLst>
              <a:gd name="adj" fmla="val 50000"/>
            </a:avLst>
          </a:prstGeom>
          <a:solidFill>
            <a:srgbClr val="801F1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Collects text data</a:t>
            </a:r>
            <a:endParaRPr>
              <a:solidFill>
                <a:srgbClr val="FFFFFF"/>
              </a:solidFill>
              <a:latin typeface="Roboto"/>
              <a:ea typeface="Roboto"/>
              <a:cs typeface="Roboto"/>
              <a:sym typeface="Roboto"/>
            </a:endParaRPr>
          </a:p>
        </p:txBody>
      </p:sp>
      <p:sp>
        <p:nvSpPr>
          <p:cNvPr id="560" name="Google Shape;560;p69"/>
          <p:cNvSpPr/>
          <p:nvPr/>
        </p:nvSpPr>
        <p:spPr>
          <a:xfrm>
            <a:off x="1923875" y="3895425"/>
            <a:ext cx="2064000" cy="669000"/>
          </a:xfrm>
          <a:prstGeom prst="chevron">
            <a:avLst>
              <a:gd name="adj" fmla="val 50000"/>
            </a:avLst>
          </a:prstGeom>
          <a:solidFill>
            <a:srgbClr val="A7291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Preprocess text</a:t>
            </a:r>
            <a:endParaRPr>
              <a:solidFill>
                <a:srgbClr val="FFFFFF"/>
              </a:solidFill>
              <a:latin typeface="Roboto"/>
              <a:ea typeface="Roboto"/>
              <a:cs typeface="Roboto"/>
              <a:sym typeface="Roboto"/>
            </a:endParaRPr>
          </a:p>
        </p:txBody>
      </p:sp>
      <p:sp>
        <p:nvSpPr>
          <p:cNvPr id="561" name="Google Shape;561;p69"/>
          <p:cNvSpPr/>
          <p:nvPr/>
        </p:nvSpPr>
        <p:spPr>
          <a:xfrm>
            <a:off x="3593475" y="3895425"/>
            <a:ext cx="2064000" cy="669000"/>
          </a:xfrm>
          <a:prstGeom prst="chevron">
            <a:avLst>
              <a:gd name="adj" fmla="val 50000"/>
            </a:avLst>
          </a:prstGeom>
          <a:solidFill>
            <a:srgbClr val="B02B2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Apply sentiment models</a:t>
            </a:r>
            <a:endParaRPr>
              <a:solidFill>
                <a:srgbClr val="FFFFFF"/>
              </a:solidFill>
              <a:latin typeface="Roboto"/>
              <a:ea typeface="Roboto"/>
              <a:cs typeface="Roboto"/>
              <a:sym typeface="Roboto"/>
            </a:endParaRPr>
          </a:p>
        </p:txBody>
      </p:sp>
      <p:sp>
        <p:nvSpPr>
          <p:cNvPr id="562" name="Google Shape;562;p69"/>
          <p:cNvSpPr/>
          <p:nvPr/>
        </p:nvSpPr>
        <p:spPr>
          <a:xfrm>
            <a:off x="7036350" y="3895425"/>
            <a:ext cx="2064000" cy="669000"/>
          </a:xfrm>
          <a:prstGeom prst="chevron">
            <a:avLst>
              <a:gd name="adj" fmla="val 50000"/>
            </a:avLst>
          </a:prstGeom>
          <a:solidFill>
            <a:srgbClr val="D8372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Visualize results</a:t>
            </a:r>
            <a:endParaRPr>
              <a:solidFill>
                <a:srgbClr val="FFFFFF"/>
              </a:solidFill>
              <a:latin typeface="Roboto"/>
              <a:ea typeface="Roboto"/>
              <a:cs typeface="Roboto"/>
              <a:sym typeface="Roboto"/>
            </a:endParaRPr>
          </a:p>
        </p:txBody>
      </p:sp>
      <p:sp>
        <p:nvSpPr>
          <p:cNvPr id="563" name="Google Shape;563;p69"/>
          <p:cNvSpPr/>
          <p:nvPr/>
        </p:nvSpPr>
        <p:spPr>
          <a:xfrm>
            <a:off x="5302300" y="3895425"/>
            <a:ext cx="2064000" cy="669000"/>
          </a:xfrm>
          <a:prstGeom prst="chevron">
            <a:avLst>
              <a:gd name="adj" fmla="val 50000"/>
            </a:avLst>
          </a:prstGeom>
          <a:solidFill>
            <a:srgbClr val="BE2F2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Classify sentiment</a:t>
            </a:r>
            <a:endParaRPr>
              <a:solidFill>
                <a:srgbClr val="FFFFFF"/>
              </a:solidFill>
              <a:latin typeface="Roboto"/>
              <a:ea typeface="Roboto"/>
              <a:cs typeface="Roboto"/>
              <a:sym typeface="Roboto"/>
            </a:endParaRPr>
          </a:p>
        </p:txBody>
      </p:sp>
      <p:pic>
        <p:nvPicPr>
          <p:cNvPr id="564" name="Google Shape;564;p69" title="Slide_1_Final.mp3">
            <a:hlinkClick r:id="rId3"/>
          </p:cNvPr>
          <p:cNvPicPr preferRelativeResize="0"/>
          <p:nvPr/>
        </p:nvPicPr>
        <p:blipFill>
          <a:blip r:embed="rId4">
            <a:alphaModFix/>
          </a:blip>
          <a:stretch>
            <a:fillRect/>
          </a:stretch>
        </p:blipFill>
        <p:spPr>
          <a:xfrm>
            <a:off x="8469532" y="4564425"/>
            <a:ext cx="520400" cy="520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Workflow</a:t>
            </a:r>
            <a:endParaRPr/>
          </a:p>
        </p:txBody>
      </p:sp>
      <p:sp>
        <p:nvSpPr>
          <p:cNvPr id="570" name="Google Shape;570;p70"/>
          <p:cNvSpPr txBox="1">
            <a:spLocks noGrp="1"/>
          </p:cNvSpPr>
          <p:nvPr>
            <p:ph type="body" idx="1"/>
          </p:nvPr>
        </p:nvSpPr>
        <p:spPr>
          <a:xfrm>
            <a:off x="0" y="1196775"/>
            <a:ext cx="4759800" cy="3358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Collected tweets from April to September 2020 datasets</a:t>
            </a:r>
            <a:endParaRPr/>
          </a:p>
          <a:p>
            <a:pPr marL="457200" lvl="0" indent="-342900" algn="l" rtl="0">
              <a:spcBef>
                <a:spcPts val="0"/>
              </a:spcBef>
              <a:spcAft>
                <a:spcPts val="0"/>
              </a:spcAft>
              <a:buSzPts val="1800"/>
              <a:buChar char="●"/>
            </a:pPr>
            <a:r>
              <a:rPr lang="en"/>
              <a:t>Filtered for tweets made in Florida</a:t>
            </a:r>
            <a:endParaRPr/>
          </a:p>
          <a:p>
            <a:pPr marL="457200" lvl="0" indent="-342900" algn="l" rtl="0">
              <a:spcBef>
                <a:spcPts val="0"/>
              </a:spcBef>
              <a:spcAft>
                <a:spcPts val="0"/>
              </a:spcAft>
              <a:buSzPts val="1800"/>
              <a:buChar char="●"/>
            </a:pPr>
            <a:r>
              <a:rPr lang="en"/>
              <a:t>Preprocessed text:</a:t>
            </a:r>
            <a:endParaRPr/>
          </a:p>
          <a:p>
            <a:pPr marL="914400" lvl="1" indent="-317500" algn="l" rtl="0">
              <a:spcBef>
                <a:spcPts val="0"/>
              </a:spcBef>
              <a:spcAft>
                <a:spcPts val="0"/>
              </a:spcAft>
              <a:buSzPts val="1400"/>
              <a:buChar char="○"/>
            </a:pPr>
            <a:r>
              <a:rPr lang="en"/>
              <a:t>Tokenization, lowercasing, lemmatization, stopword removal</a:t>
            </a:r>
            <a:endParaRPr/>
          </a:p>
          <a:p>
            <a:pPr marL="457200" lvl="0" indent="-342900" algn="l" rtl="0">
              <a:spcBef>
                <a:spcPts val="0"/>
              </a:spcBef>
              <a:spcAft>
                <a:spcPts val="0"/>
              </a:spcAft>
              <a:buSzPts val="1800"/>
              <a:buChar char="●"/>
            </a:pPr>
            <a:r>
              <a:rPr lang="en"/>
              <a:t>Applied Bing sentiment to categorize words as positive or negative</a:t>
            </a:r>
            <a:endParaRPr/>
          </a:p>
        </p:txBody>
      </p:sp>
      <p:pic>
        <p:nvPicPr>
          <p:cNvPr id="571" name="Google Shape;571;p70" title="Screenshot 2025-12-07 193224.png"/>
          <p:cNvPicPr preferRelativeResize="0"/>
          <p:nvPr/>
        </p:nvPicPr>
        <p:blipFill>
          <a:blip r:embed="rId3">
            <a:alphaModFix/>
          </a:blip>
          <a:stretch>
            <a:fillRect/>
          </a:stretch>
        </p:blipFill>
        <p:spPr>
          <a:xfrm>
            <a:off x="6474275" y="0"/>
            <a:ext cx="2524167" cy="2582699"/>
          </a:xfrm>
          <a:prstGeom prst="rect">
            <a:avLst/>
          </a:prstGeom>
          <a:noFill/>
          <a:ln>
            <a:noFill/>
          </a:ln>
        </p:spPr>
      </p:pic>
      <p:pic>
        <p:nvPicPr>
          <p:cNvPr id="572" name="Google Shape;572;p70" title="Screenshot 2025-12-07 193241.png"/>
          <p:cNvPicPr preferRelativeResize="0"/>
          <p:nvPr/>
        </p:nvPicPr>
        <p:blipFill>
          <a:blip r:embed="rId4">
            <a:alphaModFix/>
          </a:blip>
          <a:stretch>
            <a:fillRect/>
          </a:stretch>
        </p:blipFill>
        <p:spPr>
          <a:xfrm>
            <a:off x="4638100" y="2511075"/>
            <a:ext cx="3770576" cy="2582701"/>
          </a:xfrm>
          <a:prstGeom prst="rect">
            <a:avLst/>
          </a:prstGeom>
          <a:noFill/>
          <a:ln>
            <a:noFill/>
          </a:ln>
        </p:spPr>
      </p:pic>
      <p:pic>
        <p:nvPicPr>
          <p:cNvPr id="573" name="Google Shape;573;p70" title="Screenshot 2025-12-07 193204.png"/>
          <p:cNvPicPr preferRelativeResize="0"/>
          <p:nvPr/>
        </p:nvPicPr>
        <p:blipFill>
          <a:blip r:embed="rId5">
            <a:alphaModFix/>
          </a:blip>
          <a:stretch>
            <a:fillRect/>
          </a:stretch>
        </p:blipFill>
        <p:spPr>
          <a:xfrm>
            <a:off x="4089075" y="12"/>
            <a:ext cx="2469125" cy="2531775"/>
          </a:xfrm>
          <a:prstGeom prst="rect">
            <a:avLst/>
          </a:prstGeom>
          <a:noFill/>
          <a:ln>
            <a:noFill/>
          </a:ln>
        </p:spPr>
      </p:pic>
      <p:pic>
        <p:nvPicPr>
          <p:cNvPr id="574" name="Google Shape;574;p70" title="Slide_2_Final.mp3">
            <a:hlinkClick r:id="rId6"/>
          </p:cNvPr>
          <p:cNvPicPr preferRelativeResize="0"/>
          <p:nvPr/>
        </p:nvPicPr>
        <p:blipFill>
          <a:blip r:embed="rId7">
            <a:alphaModFix/>
          </a:blip>
          <a:stretch>
            <a:fillRect/>
          </a:stretch>
        </p:blipFill>
        <p:spPr>
          <a:xfrm>
            <a:off x="8510800" y="4503450"/>
            <a:ext cx="487650" cy="4876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Insights and Takeaways</a:t>
            </a:r>
            <a:endParaRPr/>
          </a:p>
        </p:txBody>
      </p:sp>
      <p:sp>
        <p:nvSpPr>
          <p:cNvPr id="580" name="Google Shape;580;p71"/>
          <p:cNvSpPr txBox="1">
            <a:spLocks noGrp="1"/>
          </p:cNvSpPr>
          <p:nvPr>
            <p:ph type="body" idx="1"/>
          </p:nvPr>
        </p:nvSpPr>
        <p:spPr>
          <a:xfrm>
            <a:off x="311700" y="1152475"/>
            <a:ext cx="4971900" cy="3334800"/>
          </a:xfrm>
          <a:prstGeom prst="rect">
            <a:avLst/>
          </a:prstGeom>
        </p:spPr>
        <p:txBody>
          <a:bodyPr spcFirstLastPara="1" wrap="square" lIns="91425" tIns="91425" rIns="91425" bIns="91425" anchor="t" anchorCtr="0">
            <a:normAutofit/>
          </a:bodyPr>
          <a:lstStyle/>
          <a:p>
            <a:pPr marL="0" lvl="0" indent="457200" algn="l" rtl="0">
              <a:spcBef>
                <a:spcPts val="0"/>
              </a:spcBef>
              <a:spcAft>
                <a:spcPts val="0"/>
              </a:spcAft>
              <a:buNone/>
            </a:pPr>
            <a:r>
              <a:rPr lang="en"/>
              <a:t>There were initially some issues with the data at first like certain words didn’t match lexicon until lemmatization was applied, and emojis and other excess noise needed to be filtered out.</a:t>
            </a:r>
            <a:endParaRPr/>
          </a:p>
          <a:p>
            <a:pPr marL="0" lvl="0" indent="0" algn="l" rtl="0">
              <a:spcBef>
                <a:spcPts val="1200"/>
              </a:spcBef>
              <a:spcAft>
                <a:spcPts val="1200"/>
              </a:spcAft>
              <a:buNone/>
            </a:pPr>
            <a:r>
              <a:rPr lang="en"/>
              <a:t>	Sentiment analysis is able to provide a high-level view but it requires careful preprocessing. The visualizations make trends and themes more obvious to any audience. </a:t>
            </a:r>
            <a:endParaRPr/>
          </a:p>
        </p:txBody>
      </p:sp>
      <p:pic>
        <p:nvPicPr>
          <p:cNvPr id="581" name="Google Shape;581;p71" title="Screenshot 2025-12-07 193325.png"/>
          <p:cNvPicPr preferRelativeResize="0"/>
          <p:nvPr/>
        </p:nvPicPr>
        <p:blipFill>
          <a:blip r:embed="rId3">
            <a:alphaModFix/>
          </a:blip>
          <a:stretch>
            <a:fillRect/>
          </a:stretch>
        </p:blipFill>
        <p:spPr>
          <a:xfrm>
            <a:off x="5059335" y="301024"/>
            <a:ext cx="4015039" cy="3334799"/>
          </a:xfrm>
          <a:prstGeom prst="rect">
            <a:avLst/>
          </a:prstGeom>
          <a:noFill/>
          <a:ln>
            <a:noFill/>
          </a:ln>
        </p:spPr>
      </p:pic>
      <p:pic>
        <p:nvPicPr>
          <p:cNvPr id="582" name="Google Shape;582;p71" title="Slide_3_Final.mp3">
            <a:hlinkClick r:id="rId4"/>
          </p:cNvPr>
          <p:cNvPicPr preferRelativeResize="0"/>
          <p:nvPr/>
        </p:nvPicPr>
        <p:blipFill>
          <a:blip r:embed="rId5">
            <a:alphaModFix/>
          </a:blip>
          <a:stretch>
            <a:fillRect/>
          </a:stretch>
        </p:blipFill>
        <p:spPr>
          <a:xfrm>
            <a:off x="8521200" y="4640100"/>
            <a:ext cx="470400" cy="470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72"/>
          <p:cNvSpPr txBox="1">
            <a:spLocks noGrp="1"/>
          </p:cNvSpPr>
          <p:nvPr>
            <p:ph type="title"/>
          </p:nvPr>
        </p:nvSpPr>
        <p:spPr>
          <a:xfrm>
            <a:off x="1216475" y="1977150"/>
            <a:ext cx="71994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rgbClr val="0B5394"/>
                </a:solidFill>
              </a:rPr>
              <a:t>Conclusion</a:t>
            </a:r>
            <a:endParaRPr>
              <a:solidFill>
                <a:srgbClr val="0B5394"/>
              </a:solidFill>
            </a:endParaRPr>
          </a:p>
        </p:txBody>
      </p:sp>
      <p:sp>
        <p:nvSpPr>
          <p:cNvPr id="588" name="Google Shape;588;p72"/>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JADYN HOLLAR</a:t>
            </a:r>
            <a:endParaRPr/>
          </a:p>
        </p:txBody>
      </p:sp>
      <p:sp>
        <p:nvSpPr>
          <p:cNvPr id="589" name="Google Shape;589;p72"/>
          <p:cNvSpPr txBox="1">
            <a:spLocks noGrp="1"/>
          </p:cNvSpPr>
          <p:nvPr>
            <p:ph type="title" idx="2"/>
          </p:nvPr>
        </p:nvSpPr>
        <p:spPr>
          <a:xfrm>
            <a:off x="720000" y="5335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73"/>
          <p:cNvSpPr txBox="1">
            <a:spLocks noGrp="1"/>
          </p:cNvSpPr>
          <p:nvPr>
            <p:ph type="title"/>
          </p:nvPr>
        </p:nvSpPr>
        <p:spPr>
          <a:xfrm>
            <a:off x="1216475" y="576825"/>
            <a:ext cx="5067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rgbClr val="0B5394"/>
                </a:solidFill>
              </a:rPr>
              <a:t>Patterns / Insights</a:t>
            </a:r>
            <a:endParaRPr sz="2800">
              <a:solidFill>
                <a:srgbClr val="0B5394"/>
              </a:solidFill>
            </a:endParaRPr>
          </a:p>
        </p:txBody>
      </p:sp>
      <p:sp>
        <p:nvSpPr>
          <p:cNvPr id="595" name="Google Shape;595;p73"/>
          <p:cNvSpPr txBox="1">
            <a:spLocks noGrp="1"/>
          </p:cNvSpPr>
          <p:nvPr>
            <p:ph type="subTitle" idx="1"/>
          </p:nvPr>
        </p:nvSpPr>
        <p:spPr>
          <a:xfrm>
            <a:off x="1216475" y="1377100"/>
            <a:ext cx="6627900" cy="306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t>Exploratory Analysis</a:t>
            </a:r>
            <a:endParaRPr sz="1200" b="1"/>
          </a:p>
          <a:p>
            <a:pPr marL="457200" lvl="0" indent="-304800" algn="l" rtl="0">
              <a:spcBef>
                <a:spcPts val="0"/>
              </a:spcBef>
              <a:spcAft>
                <a:spcPts val="0"/>
              </a:spcAft>
              <a:buSzPts val="1200"/>
              <a:buChar char="●"/>
            </a:pPr>
            <a:r>
              <a:rPr lang="en" sz="1200"/>
              <a:t>Large urban counties had the highest total COVID cases</a:t>
            </a:r>
            <a:endParaRPr sz="1200"/>
          </a:p>
          <a:p>
            <a:pPr marL="457200" lvl="0" indent="-304800" algn="l" rtl="0">
              <a:spcBef>
                <a:spcPts val="0"/>
              </a:spcBef>
              <a:spcAft>
                <a:spcPts val="0"/>
              </a:spcAft>
              <a:buSzPts val="1200"/>
              <a:buChar char="●"/>
            </a:pPr>
            <a:r>
              <a:rPr lang="en" sz="1200"/>
              <a:t>Smaller rural counties often had higher percent positives</a:t>
            </a:r>
            <a:endParaRPr sz="1200"/>
          </a:p>
          <a:p>
            <a:pPr marL="457200" lvl="0" indent="-304800" algn="l" rtl="0">
              <a:spcBef>
                <a:spcPts val="0"/>
              </a:spcBef>
              <a:spcAft>
                <a:spcPts val="0"/>
              </a:spcAft>
              <a:buSzPts val="1200"/>
              <a:buChar char="●"/>
            </a:pPr>
            <a:r>
              <a:rPr lang="en" sz="1200"/>
              <a:t>Most counties clustered around similar median ages</a:t>
            </a:r>
            <a:endParaRPr sz="1200"/>
          </a:p>
          <a:p>
            <a:pPr marL="457200" lvl="0" indent="-304800" algn="l" rtl="0">
              <a:spcBef>
                <a:spcPts val="0"/>
              </a:spcBef>
              <a:spcAft>
                <a:spcPts val="0"/>
              </a:spcAft>
              <a:buSzPts val="1200"/>
              <a:buChar char="●"/>
            </a:pPr>
            <a:r>
              <a:rPr lang="en" sz="1200"/>
              <a:t>Counties with older populations tended to show higher deaths</a:t>
            </a:r>
            <a:endParaRPr sz="1200"/>
          </a:p>
          <a:p>
            <a:pPr marL="0" lvl="0" indent="0" algn="l" rtl="0">
              <a:spcBef>
                <a:spcPts val="0"/>
              </a:spcBef>
              <a:spcAft>
                <a:spcPts val="0"/>
              </a:spcAft>
              <a:buNone/>
            </a:pPr>
            <a:r>
              <a:rPr lang="en" sz="1200" b="1"/>
              <a:t>Linear Regression</a:t>
            </a:r>
            <a:endParaRPr sz="1200" b="1"/>
          </a:p>
          <a:p>
            <a:pPr marL="457200" lvl="0" indent="-304800" algn="l" rtl="0">
              <a:spcBef>
                <a:spcPts val="0"/>
              </a:spcBef>
              <a:spcAft>
                <a:spcPts val="0"/>
              </a:spcAft>
              <a:buSzPts val="1200"/>
              <a:buChar char="●"/>
            </a:pPr>
            <a:r>
              <a:rPr lang="en" sz="1200"/>
              <a:t>Median Age showed the strongest relationship with New Percent Positive which shows that older demographic tended to have higher positive rates</a:t>
            </a:r>
            <a:endParaRPr sz="1200"/>
          </a:p>
          <a:p>
            <a:pPr marL="457200" lvl="0" indent="-304800" algn="l" rtl="0">
              <a:spcBef>
                <a:spcPts val="0"/>
              </a:spcBef>
              <a:spcAft>
                <a:spcPts val="0"/>
              </a:spcAft>
              <a:buSzPts val="1200"/>
              <a:buChar char="●"/>
            </a:pPr>
            <a:r>
              <a:rPr lang="en" sz="1200"/>
              <a:t>EverMon and MonNow did not truly predict positive rates, proving that age is a key driver behind the COVID cases in the counties.</a:t>
            </a:r>
            <a:endParaRPr sz="1200"/>
          </a:p>
          <a:p>
            <a:pPr marL="0" lvl="0" indent="0" algn="l" rtl="0">
              <a:spcBef>
                <a:spcPts val="0"/>
              </a:spcBef>
              <a:spcAft>
                <a:spcPts val="0"/>
              </a:spcAft>
              <a:buNone/>
            </a:pPr>
            <a:r>
              <a:rPr lang="en" sz="1200" b="1"/>
              <a:t>Topic Modeling</a:t>
            </a:r>
            <a:endParaRPr sz="1200" b="1"/>
          </a:p>
          <a:p>
            <a:pPr marL="457200" lvl="0" indent="-304800" algn="l" rtl="0">
              <a:spcBef>
                <a:spcPts val="0"/>
              </a:spcBef>
              <a:spcAft>
                <a:spcPts val="0"/>
              </a:spcAft>
              <a:buSzPts val="1200"/>
              <a:buChar char="●"/>
            </a:pPr>
            <a:r>
              <a:rPr lang="en" sz="1200"/>
              <a:t>2020 tweets focused on Covid’s severity and commentary on government responses.</a:t>
            </a:r>
            <a:endParaRPr sz="1200"/>
          </a:p>
          <a:p>
            <a:pPr marL="457200" lvl="0" indent="-304800" algn="l" rtl="0">
              <a:spcBef>
                <a:spcPts val="0"/>
              </a:spcBef>
              <a:spcAft>
                <a:spcPts val="0"/>
              </a:spcAft>
              <a:buSzPts val="1200"/>
              <a:buChar char="●"/>
            </a:pPr>
            <a:r>
              <a:rPr lang="en" sz="1200"/>
              <a:t>2021 tweets shifted focus toward vaccines, with a strong pushback against mandates.</a:t>
            </a:r>
            <a:endParaRPr sz="1200"/>
          </a:p>
          <a:p>
            <a:pPr marL="457200" lvl="0" indent="0" algn="l" rtl="0">
              <a:spcBef>
                <a:spcPts val="0"/>
              </a:spcBef>
              <a:spcAft>
                <a:spcPts val="0"/>
              </a:spcAft>
              <a:buNone/>
            </a:pPr>
            <a:endParaRPr sz="1200"/>
          </a:p>
          <a:p>
            <a:pPr marL="0" lvl="0" indent="0" algn="l" rtl="0">
              <a:spcBef>
                <a:spcPts val="0"/>
              </a:spcBef>
              <a:spcAft>
                <a:spcPts val="0"/>
              </a:spcAft>
              <a:buNone/>
            </a:pPr>
            <a:endParaRPr sz="1200"/>
          </a:p>
          <a:p>
            <a:pPr marL="0" lvl="0" indent="0" algn="l" rtl="0">
              <a:spcBef>
                <a:spcPts val="0"/>
              </a:spcBef>
              <a:spcAft>
                <a:spcPts val="0"/>
              </a:spcAft>
              <a:buNone/>
            </a:pPr>
            <a:endParaRPr sz="1200" i="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74"/>
          <p:cNvSpPr txBox="1">
            <a:spLocks noGrp="1"/>
          </p:cNvSpPr>
          <p:nvPr>
            <p:ph type="title"/>
          </p:nvPr>
        </p:nvSpPr>
        <p:spPr>
          <a:xfrm>
            <a:off x="1216475" y="576825"/>
            <a:ext cx="63765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rgbClr val="0B5394"/>
                </a:solidFill>
              </a:rPr>
              <a:t>Final Insights</a:t>
            </a:r>
            <a:endParaRPr sz="2800">
              <a:solidFill>
                <a:srgbClr val="0B5394"/>
              </a:solidFill>
            </a:endParaRPr>
          </a:p>
        </p:txBody>
      </p:sp>
      <p:sp>
        <p:nvSpPr>
          <p:cNvPr id="601" name="Google Shape;601;p74"/>
          <p:cNvSpPr txBox="1">
            <a:spLocks noGrp="1"/>
          </p:cNvSpPr>
          <p:nvPr>
            <p:ph type="subTitle" idx="1"/>
          </p:nvPr>
        </p:nvSpPr>
        <p:spPr>
          <a:xfrm>
            <a:off x="1216475" y="1377100"/>
            <a:ext cx="6152400" cy="306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Why This Matters</a:t>
            </a:r>
            <a:endParaRPr b="1"/>
          </a:p>
          <a:p>
            <a:pPr marL="457200" lvl="0" indent="-317500" algn="l" rtl="0">
              <a:spcBef>
                <a:spcPts val="0"/>
              </a:spcBef>
              <a:spcAft>
                <a:spcPts val="0"/>
              </a:spcAft>
              <a:buSzPts val="1400"/>
              <a:buChar char="●"/>
            </a:pPr>
            <a:r>
              <a:rPr lang="en"/>
              <a:t>Shows how public priorities shifted over time</a:t>
            </a:r>
            <a:endParaRPr/>
          </a:p>
          <a:p>
            <a:pPr marL="457200" lvl="0" indent="-317500" algn="l" rtl="0">
              <a:spcBef>
                <a:spcPts val="0"/>
              </a:spcBef>
              <a:spcAft>
                <a:spcPts val="0"/>
              </a:spcAft>
              <a:buSzPts val="1400"/>
              <a:buChar char="●"/>
            </a:pPr>
            <a:r>
              <a:rPr lang="en"/>
              <a:t>Helps explain why certain areas experienced higher risk</a:t>
            </a:r>
            <a:endParaRPr/>
          </a:p>
          <a:p>
            <a:pPr marL="457200" lvl="0" indent="-317500" algn="l" rtl="0">
              <a:spcBef>
                <a:spcPts val="0"/>
              </a:spcBef>
              <a:spcAft>
                <a:spcPts val="0"/>
              </a:spcAft>
              <a:buSzPts val="1400"/>
              <a:buChar char="●"/>
            </a:pPr>
            <a:r>
              <a:rPr lang="en"/>
              <a:t>Shows how different communities were affected differently</a:t>
            </a:r>
            <a:endParaRPr/>
          </a:p>
          <a:p>
            <a:pPr marL="0" lvl="0" indent="0" algn="l" rtl="0">
              <a:spcBef>
                <a:spcPts val="0"/>
              </a:spcBef>
              <a:spcAft>
                <a:spcPts val="0"/>
              </a:spcAft>
              <a:buNone/>
            </a:pPr>
            <a:r>
              <a:rPr lang="en" b="1"/>
              <a:t>Real World Use</a:t>
            </a:r>
            <a:endParaRPr b="1"/>
          </a:p>
          <a:p>
            <a:pPr marL="457200" lvl="0" indent="-317500" algn="l" rtl="0">
              <a:spcBef>
                <a:spcPts val="0"/>
              </a:spcBef>
              <a:spcAft>
                <a:spcPts val="0"/>
              </a:spcAft>
              <a:buSzPts val="1400"/>
              <a:buChar char="●"/>
            </a:pPr>
            <a:r>
              <a:rPr lang="en"/>
              <a:t>Data like this can help officials respond faster to public concerns</a:t>
            </a:r>
            <a:endParaRPr/>
          </a:p>
          <a:p>
            <a:pPr marL="457200" lvl="0" indent="-317500" algn="l" rtl="0">
              <a:spcBef>
                <a:spcPts val="0"/>
              </a:spcBef>
              <a:spcAft>
                <a:spcPts val="0"/>
              </a:spcAft>
              <a:buSzPts val="1400"/>
              <a:buChar char="●"/>
            </a:pPr>
            <a:r>
              <a:rPr lang="en"/>
              <a:t>Can be used for future outbreaks and help with planning for emergency situations similar to COVID</a:t>
            </a:r>
            <a:endParaRPr/>
          </a:p>
          <a:p>
            <a:pPr marL="0" lvl="0" indent="0" algn="l" rtl="0">
              <a:spcBef>
                <a:spcPts val="0"/>
              </a:spcBef>
              <a:spcAft>
                <a:spcPts val="0"/>
              </a:spcAft>
              <a:buNone/>
            </a:pPr>
            <a:endParaRPr/>
          </a:p>
          <a:p>
            <a:pPr marL="0" lvl="0" indent="0" algn="l" rtl="0">
              <a:spcBef>
                <a:spcPts val="0"/>
              </a:spcBef>
              <a:spcAft>
                <a:spcPts val="0"/>
              </a:spcAft>
              <a:buNone/>
            </a:pPr>
            <a:endParaRPr i="1"/>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1860</Words>
  <Application>Microsoft Office PowerPoint</Application>
  <PresentationFormat>On-screen Show (16:9)</PresentationFormat>
  <Paragraphs>228</Paragraphs>
  <Slides>33</Slides>
  <Notes>33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Hanken Grotesk</vt:lpstr>
      <vt:lpstr>Lato</vt:lpstr>
      <vt:lpstr>Roboto</vt:lpstr>
      <vt:lpstr>Nunito Light</vt:lpstr>
      <vt:lpstr>Arial</vt:lpstr>
      <vt:lpstr>Figtree Black</vt:lpstr>
      <vt:lpstr>Simple Light</vt:lpstr>
      <vt:lpstr>Elegant Black &amp; White Thesis Defense by Slidesgo</vt:lpstr>
      <vt:lpstr>LIS4761 MINING COVID-19 DATA IN FL</vt:lpstr>
      <vt:lpstr>Table of contents</vt:lpstr>
      <vt:lpstr>Introduction</vt:lpstr>
      <vt:lpstr>Project Goal</vt:lpstr>
      <vt:lpstr>Dataset Information</vt:lpstr>
      <vt:lpstr>Overview of Methods</vt:lpstr>
      <vt:lpstr>Data Cleaning</vt:lpstr>
      <vt:lpstr>Exploratory Analysis</vt:lpstr>
      <vt:lpstr>Exploratory Data Analysis with Shiny</vt:lpstr>
      <vt:lpstr>Workflow</vt:lpstr>
      <vt:lpstr>Top 25 Counties</vt:lpstr>
      <vt:lpstr>Comparing Different Metrics by County</vt:lpstr>
      <vt:lpstr>Distribution  of New Percent Positive</vt:lpstr>
      <vt:lpstr>Linear Regression</vt:lpstr>
      <vt:lpstr>Linear Regression </vt:lpstr>
      <vt:lpstr>Linear Regression Continued…</vt:lpstr>
      <vt:lpstr>Topic Modeling</vt:lpstr>
      <vt:lpstr>Workflow</vt:lpstr>
      <vt:lpstr>Preparing The Data (PT.1)</vt:lpstr>
      <vt:lpstr>Preparing The Data (PT.2)</vt:lpstr>
      <vt:lpstr>Latent Dirichlet Allocation</vt:lpstr>
      <vt:lpstr>PowerPoint Presentation</vt:lpstr>
      <vt:lpstr>PowerPoint Presentation</vt:lpstr>
      <vt:lpstr>PowerPoint Presentation</vt:lpstr>
      <vt:lpstr>PowerPoint Presentation</vt:lpstr>
      <vt:lpstr>LDA INSIGHTS</vt:lpstr>
      <vt:lpstr>Sentiment Analysis</vt:lpstr>
      <vt:lpstr>Sentiment Analysis</vt:lpstr>
      <vt:lpstr>Workflow</vt:lpstr>
      <vt:lpstr>Insights and Takeaways</vt:lpstr>
      <vt:lpstr>Conclusion</vt:lpstr>
      <vt:lpstr>Patterns / Insights</vt:lpstr>
      <vt:lpstr>Final Insights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Jadyn Hollar</cp:lastModifiedBy>
  <cp:revision>2</cp:revision>
  <dcterms:modified xsi:type="dcterms:W3CDTF">2025-12-08T01:46:12Z</dcterms:modified>
</cp:coreProperties>
</file>